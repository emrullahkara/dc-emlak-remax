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1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2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2545"/>
                </a:solidFill>
                <a:latin typeface="Arial"/>
              </a:rPr>
              <a:t>Puan ağırlıkları (toplam 100)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Puan</c:v>
                </c:pt>
              </c:strCache>
            </c:strRef>
          </c:tx>
          <c:spPr>
            <a:solidFill>
              <a:srgbClr val="13407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25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Fiyat</c:v>
                  </c:pt>
                  <c:pt idx="1">
                    <c:v>Konum</c:v>
                  </c:pt>
                  <c:pt idx="2">
                    <c:v>Oda / m²</c:v>
                  </c:pt>
                  <c:pt idx="3">
                    <c:v>Tercihler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25</c:v>
                </c:pt>
                <c:pt idx="2">
                  <c:v>25</c:v>
                </c:pt>
                <c:pt idx="3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B25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2545"/>
                </a:solidFill>
                <a:latin typeface="Arial"/>
              </a:rPr>
              <a:t>Aşama olasılıkları (beklenen komisyon)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Olasılık</c:v>
                </c:pt>
              </c:strCache>
            </c:strRef>
          </c:tx>
          <c:spPr>
            <a:solidFill>
              <a:srgbClr val="E4A11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5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Aday</c:v>
                  </c:pt>
                  <c:pt idx="1">
                    <c:v>Değerleme</c:v>
                  </c:pt>
                  <c:pt idx="2">
                    <c:v>Yetki</c:v>
                  </c:pt>
                  <c:pt idx="3">
                    <c:v>Yayında</c:v>
                  </c:pt>
                  <c:pt idx="4">
                    <c:v>Teklif</c:v>
                  </c:pt>
                  <c:pt idx="5">
                    <c:v>Kapora</c:v>
                  </c:pt>
                  <c:pt idx="6">
                    <c:v>Tapu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</c:v>
                </c:pt>
                <c:pt idx="1">
                  <c:v>10</c:v>
                </c:pt>
                <c:pt idx="2">
                  <c:v>25</c:v>
                </c:pt>
                <c:pt idx="3">
                  <c:v>35</c:v>
                </c:pt>
                <c:pt idx="4">
                  <c:v>60</c:v>
                </c:pt>
                <c:pt idx="5">
                  <c:v>85</c:v>
                </c:pt>
                <c:pt idx="6">
                  <c:v>95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B25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Açılış: DC Emlak, bir danışmanın telefonu, defteri, Excel'i ve WhatsApp grupları arasında dağılmış işini tek ekranda toplar. Bu sunum kurulumdan her modülün kullanımına kadar tüm özellikleri anlatır.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png"/><Relationship Id="rId13" Type="http://schemas.openxmlformats.org/officeDocument/2006/relationships/image" Target="../media/image-17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2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3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image" Target="../media/image-4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image" Target="../media/image-44-4.png"/><Relationship Id="rId5" Type="http://schemas.openxmlformats.org/officeDocument/2006/relationships/image" Target="../media/image-44-5.png"/><Relationship Id="rId6" Type="http://schemas.openxmlformats.org/officeDocument/2006/relationships/image" Target="../media/image-44-6.png"/><Relationship Id="rId7" Type="http://schemas.openxmlformats.org/officeDocument/2006/relationships/image" Target="../media/image-44-7.png"/><Relationship Id="rId8" Type="http://schemas.openxmlformats.org/officeDocument/2006/relationships/image" Target="../media/image-4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image" Target="../media/image-46-4.png"/><Relationship Id="rId5" Type="http://schemas.openxmlformats.org/officeDocument/2006/relationships/image" Target="../media/image-46-5.png"/><Relationship Id="rId6" Type="http://schemas.openxmlformats.org/officeDocument/2006/relationships/image" Target="../media/image-46-6.png"/><Relationship Id="rId7" Type="http://schemas.openxmlformats.org/officeDocument/2006/relationships/image" Target="../media/image-46-7.png"/><Relationship Id="rId8" Type="http://schemas.openxmlformats.org/officeDocument/2006/relationships/image" Target="../media/image-46-8.png"/><Relationship Id="rId9" Type="http://schemas.openxmlformats.org/officeDocument/2006/relationships/image" Target="../media/image-46-9.png"/><Relationship Id="rId10" Type="http://schemas.openxmlformats.org/officeDocument/2006/relationships/image" Target="../media/image-4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822960" cy="822960"/>
          </a:xfrm>
          <a:prstGeom prst="ellipse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10" y="854050"/>
            <a:ext cx="395021" cy="39502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71323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 Emlak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Emlak ofisinizin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ekranlık işletim sistemi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8404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Portföy, FSBO, müşteri, eşleştirme, gösterim, sözleşme, imza, komisyon ve mevzuat uyumu — cebinizde, tek uygulamada.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943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4A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Kurulumdan kullanıma eksiksiz tanıtım · Sürüm 1.0 · Eylül 2026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781544" y="466344"/>
            <a:ext cx="2816352" cy="6009718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1" descr="/tmp/claude-0/-home-user-DC-Emlak-Remax/29f9cb25-31a4-5a92-ac94-707b7b1e9f84/scratchpad/deck/shots/m-kokp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502920"/>
            <a:ext cx="2743200" cy="59365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Sunumun akışı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Dört bölüm — önce neden, sonra kurulum, sonra her modül tek tek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03120"/>
            <a:ext cx="731520" cy="731520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" y="2293315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983480" y="18745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D5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21031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DC Emlak?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26517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Emlakçıya kazandırdıkları, öne çıkan süper güçler, bir günün akışı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200" y="173736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92240" y="2103120"/>
            <a:ext cx="731520" cy="731520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2435" y="229331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607040" y="18745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D5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0"/>
          <p:cNvSpPr txBox="1"/>
          <p:nvPr/>
        </p:nvSpPr>
        <p:spPr>
          <a:xfrm>
            <a:off x="7452360" y="21031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Kurulum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7452360" y="26517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+ Vercel ile ücretsiz kurulum, ilk giriş, ofis ve ekip, demo modu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402336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68680" y="4389120"/>
            <a:ext cx="731520" cy="731520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75" y="4579315"/>
            <a:ext cx="351130" cy="35113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983480" y="41605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D5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5"/>
          <p:cNvSpPr txBox="1"/>
          <p:nvPr/>
        </p:nvSpPr>
        <p:spPr>
          <a:xfrm>
            <a:off x="1828800" y="43891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Modüller ve kullanım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1828800" y="49377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Kokpit'ten Raporlar'a 13 modülün tüm ekranları, butonları ve akışları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172200" y="402336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492240" y="4389120"/>
            <a:ext cx="731520" cy="731520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435" y="4579315"/>
            <a:ext cx="351130" cy="35113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0607040" y="41605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D5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26" name="Text 20"/>
          <p:cNvSpPr txBox="1"/>
          <p:nvPr/>
        </p:nvSpPr>
        <p:spPr>
          <a:xfrm>
            <a:off x="7452360" y="43891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Mevzuat &amp; paketler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7452360" y="49377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Uyum Motoru kuralları, KVKK, paketler, canlıya geçiş kontrol listesi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Emlak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E4A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17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Neden DC Emlak?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77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yıllık saha tecrübesinden çıkan bir ürün: danışmanın "keşke olsa" dediklerini değil, henüz aklına gelmeyenleri de veriyor.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778240" y="2011680"/>
            <a:ext cx="2560320" cy="2560320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3923" y="2677363"/>
            <a:ext cx="1228954" cy="12289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Emlakçının her gün yaşadığı 8 dert — ve DC Emlak'ın cevabı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51967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Bugün sahada yaşanan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0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 Emlak ile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07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 okunmamış WhatsApp, hangisi müşteri belli değil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temas müşteri kartına ve zaman tüneline bağlanır; kim, ne zaman, ne konuşuldu tek yerde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Sahibinden ilanlar elle taranıyor, kim arandı unutuluyor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FSBO Radar: ilanlar skorlanır, bugünkü arama sırası hazır, 1-3-7-14-30. gün takibi otomatik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Yetki sözleşmesi kâğıtta, süresi dolunca fark ediliyor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Yetki bitişine 30/15/7 gün kala Kokpit uyarır; süresi dolan ilan yayına çıkamaz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EİDS onayı olmadan ilan verip ceza riski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Uyum Motoru EİDS ve yetki olmadan "Yayında" aşamasına geçişi engeller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Yer gösterme belgesi unutuluyor, komisyon riske giriyor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Belge imzalanmadan gösterim kapatılamaz; müşteri telefonundan linkle imzalar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 sahibi "hiç aramıyorsunuz" deyip portföyü başkasına veriyor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 tıkla haftalık mal sahibi raporu: gösterim, teklif, geri bildirim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Komisyon, KDV, ofis payı hesabı karışık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Komisyon sihirbazı yasal tavanı kontrol eder, KDV ve paylaşımı hesaplar, tahsilatı izler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Müşteri soğuyor, takip unutuluyor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kişiye tarihli "sonraki adım" zorunlu; 14 gün temas yoksa kırmızı uyarı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Emlak ·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Emlakçıyı cezbeden 8 süper güç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Rakip CRM'lerde olmayan, doğrudan komisyona ve güvenliğe dokunan özellikler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640080" cy="64008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20409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560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FSBO Radar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632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Sahibinden ilanları sıcaklık skoruyla sıralar; arama senaryosu ve itiraz cevapları hazır.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37560" y="164592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66160" y="1874520"/>
            <a:ext cx="640080" cy="640080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2581" y="204094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2560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Uyum Motoru: ceza kalkanı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30632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EİDS, yetki sözleşmesi, yer gösterme, KVKK/İYS, DASK, MASAK kurallarını işlemden önce denetler.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26480" y="164592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55080" y="1874520"/>
            <a:ext cx="640080" cy="6400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501" y="204094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55080" y="2560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Linkle uzaktan imza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30632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uygulamaya girmeden telefonundan imzalar; zaman damgası ve SHA-256 kanıtı saklanır.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915400" y="164592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44000" y="1874520"/>
            <a:ext cx="640080" cy="640080"/>
          </a:xfrm>
          <a:prstGeom prst="ellipse">
            <a:avLst/>
          </a:prstGeom>
          <a:solidFill>
            <a:srgbClr val="1F5A99"/>
          </a:solidFill>
          <a:ln w="12700">
            <a:solidFill>
              <a:srgbClr val="1F5A99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0421" y="204094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44000" y="2560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Akıllı eşleştirme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9144000" y="30632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portföy girer girmez uygun alıcılar puanıyla çıkar; WhatsApp kataloğu tek tık.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406908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77240" y="4297680"/>
            <a:ext cx="640080" cy="640080"/>
          </a:xfrm>
          <a:prstGeom prst="ellipse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661" y="4464101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77240" y="49834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Komisyon sihirbazı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777240" y="54864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Yasal tavan kontrollü hizmet bedeli, KDV, ofis/danışman payı, alıcı maliyeti, satıcı neti.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337560" y="406908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3566160" y="4297680"/>
            <a:ext cx="640080" cy="64008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2581" y="4464101"/>
            <a:ext cx="307238" cy="30723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566160" y="49834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Kokpit: bugünün planı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3566160" y="54864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Açılışta rapor değil, önceliklendirilmiş aksiyon listesi ve beklenen komisyon.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126480" y="406908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355080" y="4297680"/>
            <a:ext cx="640080" cy="6400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1501" y="4464101"/>
            <a:ext cx="307238" cy="307238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355080" y="49834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 sahibi raporu</a:t>
            </a:r>
            <a:endParaRPr lang="en-US" sz="1300" dirty="0"/>
          </a:p>
        </p:txBody>
      </p:sp>
      <p:sp>
        <p:nvSpPr>
          <p:cNvPr id="38" name="Text 29"/>
          <p:cNvSpPr txBox="1"/>
          <p:nvPr/>
        </p:nvSpPr>
        <p:spPr>
          <a:xfrm>
            <a:off x="6355080" y="54864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 sahibine haftalık performans raporu; güven ve münhasırlık kazandırır.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8915400" y="406908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9144000" y="4297680"/>
            <a:ext cx="640080" cy="640080"/>
          </a:xfrm>
          <a:prstGeom prst="ellipse">
            <a:avLst/>
          </a:prstGeom>
          <a:solidFill>
            <a:srgbClr val="1F5A99"/>
          </a:solidFill>
          <a:ln w="12700">
            <a:solidFill>
              <a:srgbClr val="1F5A99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0421" y="4464101"/>
            <a:ext cx="307238" cy="307238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9144000" y="49834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Cepte, ücretsiz</a:t>
            </a:r>
            <a:endParaRPr lang="en-US" sz="1300" dirty="0"/>
          </a:p>
        </p:txBody>
      </p:sp>
      <p:sp>
        <p:nvSpPr>
          <p:cNvPr id="43" name="Text 33"/>
          <p:cNvSpPr txBox="1"/>
          <p:nvPr/>
        </p:nvSpPr>
        <p:spPr>
          <a:xfrm>
            <a:off x="9144000" y="54864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Telefona uygulama gibi kurulur (PWA). Altyapı ücretsiz katmanlarla kurulur.</a:t>
            </a:r>
            <a:endParaRPr lang="en-US" sz="1050" dirty="0"/>
          </a:p>
        </p:txBody>
      </p:sp>
      <p:sp>
        <p:nvSpPr>
          <p:cNvPr id="44" name="Text 34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Emlak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Rakamlarla DC Emlak v1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E4A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₺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51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başlangıç altyapı maliyeti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+ Vercel ücretsiz katman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41732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6459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340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651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063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Kokpit'ten Raporlar'a tek ekran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41732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459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E4A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651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 sözleşme şablonu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063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dolan akıllı alanlarla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1605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340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166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mevzuat kontrolü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577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işlemden önce, her seferinde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97680" y="393192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0" y="41605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E4A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5166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adımlı takip kadansı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5577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FSBO'da 1-3-7-14-30. gün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3192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21040" y="41605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340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247</a:t>
            </a:r>
            <a:endParaRPr lang="en-US" sz="540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5166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test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5577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güncellemede çalışır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Emlak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Danışmanın bir günü — DC Emlak ile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Sabahtan akşama, her saatte hangi ekranın işini gördüğü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417320" y="1600200"/>
            <a:ext cx="0" cy="4754880"/>
          </a:xfrm>
          <a:prstGeom prst="line">
            <a:avLst/>
          </a:prstGeom>
          <a:noFill/>
          <a:ln w="25400">
            <a:solidFill>
              <a:srgbClr val="D5DC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08:30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35024" y="1645920"/>
            <a:ext cx="164592" cy="164592"/>
          </a:xfrm>
          <a:prstGeom prst="ellipse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91640" y="15544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Kokpit — </a:t>
            </a:r>
            <a:pPr indent="0" marL="0">
              <a:buNone/>
            </a:pPr>
            <a:r>
              <a:rPr lang="en-US" sz="12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Engeller, bugünkü gösterimler, vadesi gelen görevler, soğuyan müşteriler tek listede.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15798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35024" y="2249424"/>
            <a:ext cx="164592" cy="164592"/>
          </a:xfrm>
          <a:prstGeom prst="ellipse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91640" y="2157984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FSBO Radar — </a:t>
            </a:r>
            <a:pPr indent="0" marL="0">
              <a:buNone/>
            </a:pPr>
            <a:r>
              <a:rPr lang="en-US" sz="12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Skoru en yüksek sahibinden ilanlardan başlanır; senaryo ve itiraz cevapları ekranda.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76148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335024" y="2852928"/>
            <a:ext cx="164592" cy="164592"/>
          </a:xfrm>
          <a:prstGeom prst="ellipse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691640" y="276148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Portföy kartı — </a:t>
            </a:r>
            <a:pPr indent="0" marL="0">
              <a:buNone/>
            </a:pPr>
            <a:r>
              <a:rPr lang="en-US" sz="12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 sahibiyle görüşme: sağlık skoru, fiyat geçmişi, tapu &amp; hukuk bilgileri.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36499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335024" y="3456432"/>
            <a:ext cx="164592" cy="164592"/>
          </a:xfrm>
          <a:prstGeom prst="ellipse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691640" y="3364992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Sözleşmeler — </a:t>
            </a:r>
            <a:pPr indent="0" marL="0">
              <a:buNone/>
            </a:pPr>
            <a:r>
              <a:rPr lang="en-US" sz="12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Yetki sözleşmesi portföyden otomatik dolar, linkle imzaya gider.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96849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335024" y="4059936"/>
            <a:ext cx="164592" cy="164592"/>
          </a:xfrm>
          <a:prstGeom prst="ellipse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691640" y="3968496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Portföy · EİDS — </a:t>
            </a:r>
            <a:pPr indent="0" marL="0">
              <a:buNone/>
            </a:pPr>
            <a:r>
              <a:rPr lang="en-US" sz="12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Malike e-Devlet yönlendirmesi WhatsApp'la; onay gelince ilan yayına alınır.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572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335024" y="4663440"/>
            <a:ext cx="164592" cy="164592"/>
          </a:xfrm>
          <a:prstGeom prst="ellipse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691640" y="45720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Takvim — </a:t>
            </a:r>
            <a:pPr indent="0" marL="0">
              <a:buNone/>
            </a:pPr>
            <a:r>
              <a:rPr lang="en-US" sz="12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Gösterim: yer gösterme belgesi imzası, yol tarifi, "Güvendeyim" sayacı, geri bildirim.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17550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17:00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335024" y="5266944"/>
            <a:ext cx="164592" cy="164592"/>
          </a:xfrm>
          <a:prstGeom prst="ellipse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691640" y="5175504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Eşleştirme — </a:t>
            </a:r>
            <a:pPr indent="0" marL="0">
              <a:buNone/>
            </a:pPr>
            <a:r>
              <a:rPr lang="en-US" sz="12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Alıcıya uygun 5 portföy puanıyla; KVKK izni kontrol edilip katalog gönderilir.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77900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19:00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335024" y="5870448"/>
            <a:ext cx="164592" cy="164592"/>
          </a:xfrm>
          <a:prstGeom prst="ellipse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691640" y="577900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İşlemler — </a:t>
            </a:r>
            <a:pPr indent="0" marL="0">
              <a:buNone/>
            </a:pPr>
            <a:r>
              <a:rPr lang="en-US" sz="12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Teklif kabul, kapora, kapanış listesi, komisyon ve paylaşım kaydı.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050024" y="1609344"/>
            <a:ext cx="4645152" cy="2930652"/>
          </a:xfrm>
          <a:prstGeom prst="roundRect">
            <a:avLst>
              <a:gd name="adj" fmla="val 249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30" name="Image 0" descr="/tmp/claude-0/-home-user-DC-Emlak-Remax/29f9cb25-31a4-5a92-ac94-707b7b1e9f84/scratchpad/deck/shots/kokp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645920"/>
            <a:ext cx="4572000" cy="2857500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7086600" y="4617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Kokpit: "Bugün 14 aksiyon, 2'si engel içeriyor"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Emlak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E4A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17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Kurulum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77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30–45 dakikada, kod bilgisi gerekmeden, ücretsiz katmanlarla kendi uygulamanız. Ayrıntılı rehber depoda: docs/KURULUM.md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778240" y="2011680"/>
            <a:ext cx="2560320" cy="2560320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3923" y="2677363"/>
            <a:ext cx="1228954" cy="12289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Kurulum yol haritası — 4 adım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İhtiyacınız olanlar: bir e-posta adresi ve ücretsiz bir GitHub hesabı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2103120"/>
            <a:ext cx="868680" cy="868680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3177" y="2328977"/>
            <a:ext cx="416966" cy="41696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1546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Supabase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6118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Veritabanı + giriş + dosya deposu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251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A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10 dk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3154680"/>
            <a:ext cx="164592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55848" y="182880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224528" y="2103120"/>
            <a:ext cx="868680" cy="868680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0385" y="2328977"/>
            <a:ext cx="416966" cy="41696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538728" y="31546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Tabloları kur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3538728" y="36118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migration dosyasını sırayla çalıştır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3538728" y="4251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A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10 dk</a:t>
            </a:r>
            <a:endParaRPr lang="en-US" sz="13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3154680"/>
            <a:ext cx="164592" cy="2743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163056" y="182880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7031736" y="2103120"/>
            <a:ext cx="868680" cy="868680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7593" y="2328977"/>
            <a:ext cx="416966" cy="4169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345936" y="31546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Vercel</a:t>
            </a:r>
            <a:endParaRPr lang="en-US" sz="1800" dirty="0"/>
          </a:p>
        </p:txBody>
      </p:sp>
      <p:sp>
        <p:nvSpPr>
          <p:cNvPr id="22" name="Text 15"/>
          <p:cNvSpPr txBox="1"/>
          <p:nvPr/>
        </p:nvSpPr>
        <p:spPr>
          <a:xfrm>
            <a:off x="6345936" y="36118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Uygulamayı yayına al, adresini al</a:t>
            </a:r>
            <a:endParaRPr lang="en-US" sz="1250" dirty="0"/>
          </a:p>
        </p:txBody>
      </p:sp>
      <p:sp>
        <p:nvSpPr>
          <p:cNvPr id="23" name="Text 16"/>
          <p:cNvSpPr txBox="1"/>
          <p:nvPr/>
        </p:nvSpPr>
        <p:spPr>
          <a:xfrm>
            <a:off x="6345936" y="4251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A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10 dk</a:t>
            </a:r>
            <a:endParaRPr lang="en-US" sz="13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6528" y="3154680"/>
            <a:ext cx="164592" cy="27432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8970264" y="182880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9838944" y="2103120"/>
            <a:ext cx="868680" cy="868680"/>
          </a:xfrm>
          <a:prstGeom prst="ellipse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4801" y="2328977"/>
            <a:ext cx="416966" cy="416966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9153144" y="31546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İlk giriş</a:t>
            </a:r>
            <a:endParaRPr lang="en-US" sz="1800" dirty="0"/>
          </a:p>
        </p:txBody>
      </p:sp>
      <p:sp>
        <p:nvSpPr>
          <p:cNvPr id="29" name="Text 20"/>
          <p:cNvSpPr txBox="1"/>
          <p:nvPr/>
        </p:nvSpPr>
        <p:spPr>
          <a:xfrm>
            <a:off x="9153144" y="36118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Ofis kurulumu, ekip daveti, telefona ekle</a:t>
            </a:r>
            <a:endParaRPr lang="en-US" sz="1250" dirty="0"/>
          </a:p>
        </p:txBody>
      </p:sp>
      <p:sp>
        <p:nvSpPr>
          <p:cNvPr id="30" name="Text 21"/>
          <p:cNvSpPr txBox="1"/>
          <p:nvPr/>
        </p:nvSpPr>
        <p:spPr>
          <a:xfrm>
            <a:off x="9153144" y="4251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A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10 dk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548640" y="5120640"/>
            <a:ext cx="11094415" cy="1097280"/>
          </a:xfrm>
          <a:prstGeom prst="roundRect">
            <a:avLst>
              <a:gd name="adj" fmla="val 10000"/>
            </a:avLst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</p:spPr>
      </p:sp>
      <p:sp>
        <p:nvSpPr>
          <p:cNvPr id="32" name="Text 23"/>
          <p:cNvSpPr txBox="1"/>
          <p:nvPr/>
        </p:nvSpPr>
        <p:spPr>
          <a:xfrm>
            <a:off x="822960" y="525780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 denemek ister misiniz? </a:t>
            </a:r>
            <a:pPr indent="0" marL="0">
              <a:buNone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ayarı yapılmadan açılan uygulama otomatik olarak demo modunda, örnek "DC Emlak Kadıköy" ofisiyle çalışır. Giriş gerekmez; değişiklikler yalnızca o tarayıcıda saklanır. Sunum ve eğitim için idealdir.</a:t>
            </a:r>
            <a:endParaRPr lang="en-US" sz="1300" dirty="0"/>
          </a:p>
        </p:txBody>
      </p:sp>
      <p:sp>
        <p:nvSpPr>
          <p:cNvPr id="33" name="Text 24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Emlak ·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Adım 1 — Supabase projesi ve tablolar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supabase.com → Start your project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20624" cy="420624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627632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oluşturun: </a:t>
            </a:r>
            <a:pPr indent="0" marL="0">
              <a:buNone/>
            </a:pPr>
            <a:r>
              <a:rPr lang="en-US" sz="12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project → ad: dc-emlak, güçlü veritabanı şifresi (not edin).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322576"/>
            <a:ext cx="420624" cy="420624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22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15568" y="2304288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Bölge: </a:t>
            </a:r>
            <a:pPr indent="0" marL="0">
              <a:buNone/>
            </a:pPr>
            <a:r>
              <a:rPr lang="en-US" sz="12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EU (Frankfurt) — Türkiye'ye en yakın. 1–2 dk hazırlanır.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999232"/>
            <a:ext cx="420624" cy="420624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999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980944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Editor → New query: </a:t>
            </a:r>
            <a:pPr indent="0" marL="0">
              <a:buNone/>
            </a:pPr>
            <a:r>
              <a:rPr lang="en-US" sz="12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app/supabase/migrations klasöründeki dosyaları numara sırasıyla yapıştırıp Run deyin.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675888"/>
            <a:ext cx="420624" cy="420624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675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3657600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dosya başarıyla bitmeli: </a:t>
            </a:r>
            <a:pPr indent="0" marL="0">
              <a:buNone/>
            </a:pPr>
            <a:r>
              <a:rPr lang="en-US" sz="12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alırsanız sonrakine geçmeyin (Sorun giderme tablosuna bakın).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352544"/>
            <a:ext cx="420624" cy="420624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352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" y="4334256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Dikkat: </a:t>
            </a:r>
            <a:pPr indent="0" marL="0">
              <a:buNone/>
            </a:pPr>
            <a:r>
              <a:rPr lang="en-US" sz="12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.github/workflows/ci-supabase-stub.sql dosyasını Supabase'de çalıştırmayın — yalnızca otomatik testler içindir.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645920"/>
          <a:ext cx="5605272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400507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Dosya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0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kurar?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07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0001_init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tablo: ofis, kişi, rıza, portföy, belge, imza, gösterim, teklif, işlem, komisyon, FSBO, denetim kaydı + satır düzeyi güvenlik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0002_onboarding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Ofis kurma, davet kodu, Vault anahtar saklama fonksiyonları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0003_signing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Giriş gerektirmeyen uzaktan imza fonksiyonları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0004_fsbo_deal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FSBO takip alanları ve indeksler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0005_media_storage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Fotoğraf deposu (özel kova) ve erişim kuralları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0006_crm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Ekip rollerine göre müşteri erişimi ve zaman tüneli izinleri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Emlak ·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Adım 1 (devam) — Giriş, Vault, adresler ve anahtarlar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457200" cy="457200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444752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30759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(API anahtar kasası)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158191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→ Extensions → supabase_vault açık olmalı. SMS, WhatsApp gibi ücretli servis anahtarları burada şifreli durur.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359152"/>
            <a:ext cx="219456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222199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E-posta ile giriş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249631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→ Providers → Email açık, "Confirm email" açık. Şifre yok: bağlantı veya 6 haneli kodla girilir.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27355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43000" y="313639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 ayarları (Vercel'den sonra)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1143000" y="341071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Configuration → Site URL: https://&lt;adresiniz&gt;.vercel.app · Redirect URLs: https://&lt;adresiniz&gt;.vercel.app/**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187952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43000" y="405079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Anahtarları not edin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1143000" y="432511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Settings → API: Project URL ve anon/public key. service_role anahtarını ASLA uygulamaya girmeyin.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548640" y="4983480"/>
            <a:ext cx="457200" cy="45720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5102352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143000" y="496519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e-posta gönderecekseniz</a:t>
            </a:r>
            <a:endParaRPr lang="en-US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1143000" y="523951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Ücretsiz katmanda saatte birkaç e-posta sınırı var; ekip büyüyünce SMTP (Resend, Brevo ücretsiz) tanımlayın.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6400800" y="1325880"/>
            <a:ext cx="5239512" cy="4480560"/>
          </a:xfrm>
          <a:prstGeom prst="roundRect">
            <a:avLst>
              <a:gd name="adj" fmla="val 2449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6675120" y="1508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4A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Link ve Confirm signup e-posta şablonu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6675120" y="196596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&lt;h2&gt;DC Emlak giriş&lt;/h2&gt;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&lt;p&gt;Giriş kodunuz: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&lt;strong&gt;{{ .Token }}&lt;/strong&gt;&lt;/p&gt;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&lt;p&gt;veya &lt;a href="{{ .ConfirmationURL }}"&gt;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buraya tıklayarak giriş yapın&lt;/a&gt;.&lt;/p&gt;</a:t>
            </a:r>
            <a:endParaRPr lang="en-US" sz="1250" dirty="0"/>
          </a:p>
        </p:txBody>
      </p:sp>
      <p:sp>
        <p:nvSpPr>
          <p:cNvPr id="26" name="Text 19"/>
          <p:cNvSpPr txBox="1"/>
          <p:nvPr/>
        </p:nvSpPr>
        <p:spPr>
          <a:xfrm>
            <a:off x="6675120" y="406908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→ Emails → Templates. Bu şablon sayesinde kullanıcı e-postadaki bağlantıya tıklayabilir ya da 6 haneli kodu uygulamaya yazabilir — telefonda e-posta uygulaması farklı olsa bile giriş yapılır.</a:t>
            </a:r>
            <a:endParaRPr lang="en-US" sz="1250" dirty="0"/>
          </a:p>
        </p:txBody>
      </p:sp>
      <p:sp>
        <p:nvSpPr>
          <p:cNvPr id="27" name="Text 20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Emlak ·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Adım 2 — Vercel ile yayına alma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vercel.com → GitHub ile giriş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20624" cy="420624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627632"/>
            <a:ext cx="5193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→ Project: </a:t>
            </a:r>
            <a:pPr indent="0" marL="0">
              <a:buNone/>
            </a:pPr>
            <a:r>
              <a:rPr lang="en-US" sz="12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Emlak deposunu Import edin.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322576"/>
            <a:ext cx="420624" cy="420624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22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15568" y="2304288"/>
            <a:ext cx="5193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Directory: </a:t>
            </a:r>
            <a:pPr indent="0" marL="0">
              <a:buNone/>
            </a:pPr>
            <a:r>
              <a:rPr lang="en-US" sz="12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seçin (en önemli adım). Framework otomatik Next.js algılanır.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999232"/>
            <a:ext cx="420624" cy="420624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999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980944"/>
            <a:ext cx="5193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Variables: </a:t>
            </a:r>
            <a:pPr indent="0" marL="0">
              <a:buNone/>
            </a:pPr>
            <a:r>
              <a:rPr lang="en-US" sz="12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Supabase'den aldığınız iki değeri girin (tablo).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675888"/>
            <a:ext cx="420624" cy="420624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675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3657600"/>
            <a:ext cx="5193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</a:t>
            </a:r>
            <a:pPr indent="0" marL="0">
              <a:buNone/>
            </a:pPr>
            <a:r>
              <a:rPr lang="en-US" sz="12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dakikada https://…vercel.app adresiniz hazır.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352544"/>
            <a:ext cx="420624" cy="420624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352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" y="4334256"/>
            <a:ext cx="5193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Supabase'e dönün: </a:t>
            </a:r>
            <a:pPr indent="0" marL="0">
              <a:buNone/>
            </a:pPr>
            <a:r>
              <a:rPr lang="en-US" sz="12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adresi Site URL / Redirect URLs olarak girin.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420624" cy="420624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029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15568" y="5010912"/>
            <a:ext cx="5193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alan adınız (isteğe bağlı): </a:t>
            </a:r>
            <a:pPr indent="0" marL="0">
              <a:buNone/>
            </a:pPr>
            <a:r>
              <a:rPr lang="en-US" sz="12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Domains → ör. app.dcemlak.com; Supabase adreslerini güncelleyin.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705856"/>
            <a:ext cx="420624" cy="420624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5705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15568" y="5687568"/>
            <a:ext cx="5193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Değişken değiştirdiyseniz: </a:t>
            </a:r>
            <a:pPr indent="0" marL="0">
              <a:buNone/>
            </a:pPr>
            <a:r>
              <a:rPr lang="en-US" sz="12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 → Redeploy (değerler derlemede gömülür).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645920"/>
          <a:ext cx="496519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2219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Değişken adı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0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07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NEXT_PUBLIC_SUPABASE_URL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 → Project URL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NEXT_PUBLIC_SUPABASE_ANON_KEY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 → anon / public key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6675120" y="3200400"/>
            <a:ext cx="4965192" cy="2651760"/>
          </a:xfrm>
          <a:prstGeom prst="roundRect">
            <a:avLst>
              <a:gd name="adj" fmla="val 4138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903720" y="3429000"/>
            <a:ext cx="548640" cy="5486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6366" y="3571646"/>
            <a:ext cx="263347" cy="263347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7589520" y="3474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güncellemede otomatik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6903720" y="4114800"/>
            <a:ext cx="4526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GitHub'a gelen her değişiklik önce otomatik testlerden (lint, tip, 247 birim testi, şablon kontrolü, derleme, veritabanı kurulum testi) geçer; Vercel yeni sürümü kendiliğinden yayına alır. Siz hiçbir şey yapmazsınız.</a:t>
            </a:r>
            <a:endParaRPr lang="en-US" sz="1250" dirty="0"/>
          </a:p>
        </p:txBody>
      </p:sp>
      <p:sp>
        <p:nvSpPr>
          <p:cNvPr id="31" name="Text 27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Emlak ·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Adım 3 — İlk giriş ve ofis kurulumu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12064" y="1197864"/>
            <a:ext cx="3730752" cy="2359152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tmp/claude-0/-home-user-DC-Emlak-Remax/29f9cb25-31a4-5a92-ac94-707b7b1e9f84/scratchpad/deck/shots/gir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3657600" cy="2286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398264" y="1197864"/>
            <a:ext cx="3730752" cy="2359152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1" descr="/tmp/claude-0/-home-user-DC-Emlak-Remax/29f9cb25-31a4-5a92-ac94-707b7b1e9f84/scratchpad/deck/shots/kurulu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234440"/>
            <a:ext cx="3657600" cy="2286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Giriş: şifre yok, e-posta + kod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443484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Ofis kurulumu ekranı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8321040" y="1234440"/>
            <a:ext cx="33192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e-postanızı yazın → gelen bağlantıya tıklayın veya 6 haneli kodu girin. İlk girişte hesap kendiliğinden açılır.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Ofis bilgileri: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unvan, vergi no / TCKN (kontrol haneleri doğrulanır), MERSİS, taşınmaz ticareti yetki belgesi no + geçerlilik tarihi.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 bilgileriniz: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soyad, cep telefonu. Ofisi kuran kişi broker (yönetici) olur.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 seçimi: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/ Profesyonel / Premium — 14 gün ücretsiz deneme, kart bilgisi istenmez.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4114800"/>
            <a:ext cx="11094415" cy="2103120"/>
          </a:xfrm>
          <a:prstGeom prst="roundRect">
            <a:avLst>
              <a:gd name="adj" fmla="val 5217"/>
            </a:avLst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4297680"/>
            <a:ext cx="1054577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Yetki belgesi neden kurulumda soruluyor? </a:t>
            </a:r>
            <a:pPr indent="0" marL="0">
              <a:buNone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Taşınmaz Ticareti Yönetmeliği gereği yetki belgesi olmayan işletme ilan veremez. Uyum Motoru, belge girilmeden veya süresi dolmuşsa hiçbir ilanın "Yayında" aşamasına geçmesine izin vermez; bitişe 30 gün kala Kokpit'te uyarı verir. Bilgileri sonra Ayarlar → Ofis'ten de tamamlayabilirsiniz.
</a:t>
            </a:r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Davetle katılan danışman: </a:t>
            </a:r>
            <a:pPr indent="0" marL="0">
              <a:buNone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e-postasıyla giriş yapar, "Davet koduyla katıl" sekmesine kodu girer. Bağlantı ?davet=KOD ile gelirse kod otomatik dolar.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Emlak ·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Adım 4 — Ekip daveti, roller ve telefona kurulum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7665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011680"/>
                <a:gridCol w="35204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0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görür?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0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yapabilir?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07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Tüm ofis kayıtları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Ofis &amp; paket ayarları, ekip yönetimi, davet, entegrasyon anahtarları, komisyon paylaşımı, tüm veriyi dışa aktarma, denetim kaydı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Takım lideri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Tüm ofis kayıtları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Ekibin işlem hattını izler, Kokpit'te Ofis görünümü, uyum kayıtlarını okur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Danışman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Kendi kayıtları + ofisle paylaşılan portföyler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Portföy, müşteri, gösterim, teklif, belge; kendi komisyon payını görür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Asistan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Tüm ofis kayıtları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Evrak, randevu, ilan girişi ve toplu işlemler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589520" y="1280160"/>
            <a:ext cx="420624" cy="420624"/>
          </a:xfrm>
          <a:prstGeom prst="ellipse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589520" y="1280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156448" y="1261872"/>
            <a:ext cx="3483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Ayarlar → Ekip → Davet kodu oluştur: </a:t>
            </a:r>
            <a:pPr indent="0" marL="0">
              <a:buNone/>
            </a:pPr>
            <a:r>
              <a:rPr lang="en-US" sz="12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rolü seçin; kod 7 gün geçerli, tek kullanımlık.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589520" y="1956816"/>
            <a:ext cx="420624" cy="420624"/>
          </a:xfrm>
          <a:prstGeom prst="ellipse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589520" y="1956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156448" y="1938528"/>
            <a:ext cx="3483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ile gönder: </a:t>
            </a:r>
            <a:pPr indent="0" marL="0">
              <a:buNone/>
            </a:pPr>
            <a:r>
              <a:rPr lang="en-US" sz="12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davet mesajı ve bağlantı hazır gelir.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589520" y="2633472"/>
            <a:ext cx="420624" cy="420624"/>
          </a:xfrm>
          <a:prstGeom prst="ellipse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589520" y="2633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156448" y="2615184"/>
            <a:ext cx="3483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Pasifleştirme: </a:t>
            </a:r>
            <a:pPr indent="0" marL="0">
              <a:buNone/>
            </a:pPr>
            <a:r>
              <a:rPr lang="en-US" sz="12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ayrılan danışman ofis verisine erişemez; kayıtlarını devredin.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589520" y="3310128"/>
            <a:ext cx="420624" cy="420624"/>
          </a:xfrm>
          <a:prstGeom prst="ellipse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589520" y="3310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156448" y="3291840"/>
            <a:ext cx="3483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Telefona ekleme: </a:t>
            </a:r>
            <a:pPr indent="0" marL="0">
              <a:buNone/>
            </a:pPr>
            <a:r>
              <a:rPr lang="en-US" sz="12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tarayıcı menüsü → "Ana ekrana ekle". Uygulama gibi tam ekran açılır.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4846320"/>
            <a:ext cx="6766560" cy="137160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498348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 kuralı veritabanında: </a:t>
            </a:r>
            <a:pPr indent="0" marL="0">
              <a:buNone/>
            </a:pPr>
            <a:r>
              <a:rPr lang="en-US" sz="12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danışman başka danışmanın müşterisinin telefonunu ekranda gizlese bile veritabanından da çekemez (satır düzeyi güvenlik — RLS). Ofisler birbirinin verisini asla göremez.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193024" y="3895344"/>
            <a:ext cx="1170432" cy="244777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19" name="Image 0" descr="/tmp/claude-0/-home-user-DC-Emlak-Remax/29f9cb25-31a4-5a92-ac94-707b7b1e9f84/scratchpad/deck/shots/m-portfo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3931920"/>
            <a:ext cx="1097280" cy="2374626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9656064" y="3895344"/>
            <a:ext cx="1170432" cy="244777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1" descr="/tmp/claude-0/-home-user-DC-Emlak-Remax/29f9cb25-31a4-5a92-ac94-707b7b1e9f84/scratchpad/deck/shots/m-takv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3931920"/>
            <a:ext cx="1097280" cy="237462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Emlak ·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modu ve sorun giderme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840480" cy="4892040"/>
          </a:xfrm>
          <a:prstGeom prst="roundRect">
            <a:avLst>
              <a:gd name="adj" fmla="val 285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08760"/>
            <a:ext cx="640080" cy="640080"/>
          </a:xfrm>
          <a:prstGeom prst="ellipse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16751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modu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değişkenleri tanımlı değilse otomatik açılır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gerekmez; örnek "DC Emlak Kadıköy" ofisi, 10 portföy, 10 kişi, FSBO ilanları, gösterimler hazır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Değişiklikler yalnızca o tarayıcıda (localStorage)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Ayarlar → Veri &amp; KVKK → Demo verisini sıfırla ile başa dönülür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Sunum ve eğitim için idealdir; gerçek müşteri verisi girmeyin</a:t>
            </a:r>
            <a:endParaRPr lang="en-US" sz="1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280160"/>
          <a:ext cx="69768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33672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Belirti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0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Çözüm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07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Giriş e-postası gelmiyor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Spam klasörü; ücretsiz e-posta limiti — bekleyin veya SMTP tanımlayın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E-postadaki bağlantı localhost'a gidiyor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 Site URL / Redirect URLs Vercel adresine ayarlanmamış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"Veritabanı kurulumu eksik"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0002_onboarding.sql çalıştırılmamış; migration'ları sırayla çalıştırın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"plan_id" already exists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Dosya daha önce çalıştırılmış; bir sonrakine geçin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"Supabase Vault etkin değil"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→ Extensions → supabase_vault açın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Uygulama hâlâ "Demo modu" diyor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Vercel değişkenleri eksik ya da Redeploy yapılmadı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"No Next.js version detected"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Directory app olarak ayarlanmamış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Danışman bazı kayıtları göremiyor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Beklenen davranış; rolü Ayarlar → Ekip'ten değiştirin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Emlak ·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E4A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17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Modüller ve kullanım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77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modülün her ekranı, butonu ve akışı — ekran görüntüleriyle.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778240" y="2011680"/>
            <a:ext cx="2560320" cy="2560320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3923" y="2677363"/>
            <a:ext cx="1228954" cy="122895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haritası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 menüde üç grup: Günlük · Satış · Ofis. Telefonda alt menü + Menü tuşu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4A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011680" y="1600200"/>
            <a:ext cx="1508760" cy="1325880"/>
          </a:xfrm>
          <a:prstGeom prst="roundRect">
            <a:avLst>
              <a:gd name="adj" fmla="val 827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0" y="1737360"/>
            <a:ext cx="594360" cy="594360"/>
          </a:xfrm>
          <a:prstGeom prst="ellipse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3414" y="1891894"/>
            <a:ext cx="285293" cy="28529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057400" y="240487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Kokpit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657600" y="1600200"/>
            <a:ext cx="1508760" cy="1325880"/>
          </a:xfrm>
          <a:prstGeom prst="roundRect">
            <a:avLst>
              <a:gd name="adj" fmla="val 827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14800" y="1737360"/>
            <a:ext cx="594360" cy="594360"/>
          </a:xfrm>
          <a:prstGeom prst="ellipse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9334" y="18918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703320" y="240487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Takvim &amp; Gösterim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337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SATIŞ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2011680" y="3154680"/>
            <a:ext cx="1508760" cy="1325880"/>
          </a:xfrm>
          <a:prstGeom prst="roundRect">
            <a:avLst>
              <a:gd name="adj" fmla="val 827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468880" y="3291840"/>
            <a:ext cx="594360" cy="594360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3414" y="344637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057400" y="395935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Portföyler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3657600" y="3154680"/>
            <a:ext cx="1508760" cy="1325880"/>
          </a:xfrm>
          <a:prstGeom prst="roundRect">
            <a:avLst>
              <a:gd name="adj" fmla="val 827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114800" y="3291840"/>
            <a:ext cx="594360" cy="594360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9334" y="344637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703320" y="395935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Müşteriler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303520" y="3154680"/>
            <a:ext cx="1508760" cy="1325880"/>
          </a:xfrm>
          <a:prstGeom prst="roundRect">
            <a:avLst>
              <a:gd name="adj" fmla="val 827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760720" y="3291840"/>
            <a:ext cx="594360" cy="594360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5254" y="3446374"/>
            <a:ext cx="285293" cy="285293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349240" y="395935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FSBO Radar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6949440" y="3154680"/>
            <a:ext cx="1508760" cy="1325880"/>
          </a:xfrm>
          <a:prstGeom prst="roundRect">
            <a:avLst>
              <a:gd name="adj" fmla="val 827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7406640" y="3291840"/>
            <a:ext cx="594360" cy="594360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1174" y="3446374"/>
            <a:ext cx="285293" cy="285293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995160" y="395935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Eşleştirme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8595360" y="3154680"/>
            <a:ext cx="1508760" cy="1325880"/>
          </a:xfrm>
          <a:prstGeom prst="roundRect">
            <a:avLst>
              <a:gd name="adj" fmla="val 827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9052560" y="3291840"/>
            <a:ext cx="594360" cy="594360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07094" y="3446374"/>
            <a:ext cx="285293" cy="285293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8641080" y="395935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İşlemler</a:t>
            </a:r>
            <a:endParaRPr lang="en-US" sz="1150" dirty="0"/>
          </a:p>
        </p:txBody>
      </p:sp>
      <p:sp>
        <p:nvSpPr>
          <p:cNvPr id="34" name="Text 25"/>
          <p:cNvSpPr txBox="1"/>
          <p:nvPr/>
        </p:nvSpPr>
        <p:spPr>
          <a:xfrm>
            <a:off x="548640" y="4892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OFIS</a:t>
            </a:r>
            <a:endParaRPr lang="en-US" sz="1400" dirty="0"/>
          </a:p>
        </p:txBody>
      </p:sp>
      <p:sp>
        <p:nvSpPr>
          <p:cNvPr id="35" name="Shape 26"/>
          <p:cNvSpPr/>
          <p:nvPr/>
        </p:nvSpPr>
        <p:spPr>
          <a:xfrm>
            <a:off x="2011680" y="4709160"/>
            <a:ext cx="1508760" cy="1325880"/>
          </a:xfrm>
          <a:prstGeom prst="roundRect">
            <a:avLst>
              <a:gd name="adj" fmla="val 827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36" name="Shape 27"/>
          <p:cNvSpPr/>
          <p:nvPr/>
        </p:nvSpPr>
        <p:spPr>
          <a:xfrm>
            <a:off x="2468880" y="4846320"/>
            <a:ext cx="594360" cy="59436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23414" y="5000854"/>
            <a:ext cx="285293" cy="285293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2057400" y="551383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Sözleşmeler &amp; İmza</a:t>
            </a:r>
            <a:endParaRPr lang="en-US" sz="1150" dirty="0"/>
          </a:p>
        </p:txBody>
      </p:sp>
      <p:sp>
        <p:nvSpPr>
          <p:cNvPr id="39" name="Shape 29"/>
          <p:cNvSpPr/>
          <p:nvPr/>
        </p:nvSpPr>
        <p:spPr>
          <a:xfrm>
            <a:off x="3657600" y="4709160"/>
            <a:ext cx="1508760" cy="1325880"/>
          </a:xfrm>
          <a:prstGeom prst="roundRect">
            <a:avLst>
              <a:gd name="adj" fmla="val 827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40" name="Shape 30"/>
          <p:cNvSpPr/>
          <p:nvPr/>
        </p:nvSpPr>
        <p:spPr>
          <a:xfrm>
            <a:off x="4114800" y="4846320"/>
            <a:ext cx="594360" cy="59436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69334" y="5000854"/>
            <a:ext cx="285293" cy="285293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3703320" y="551383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Hesaplayıcılar</a:t>
            </a:r>
            <a:endParaRPr lang="en-US" sz="1150" dirty="0"/>
          </a:p>
        </p:txBody>
      </p:sp>
      <p:sp>
        <p:nvSpPr>
          <p:cNvPr id="43" name="Shape 32"/>
          <p:cNvSpPr/>
          <p:nvPr/>
        </p:nvSpPr>
        <p:spPr>
          <a:xfrm>
            <a:off x="5303520" y="4709160"/>
            <a:ext cx="1508760" cy="1325880"/>
          </a:xfrm>
          <a:prstGeom prst="roundRect">
            <a:avLst>
              <a:gd name="adj" fmla="val 827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44" name="Shape 33"/>
          <p:cNvSpPr/>
          <p:nvPr/>
        </p:nvSpPr>
        <p:spPr>
          <a:xfrm>
            <a:off x="5760720" y="4846320"/>
            <a:ext cx="594360" cy="59436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15254" y="5000854"/>
            <a:ext cx="285293" cy="285293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5349240" y="551383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Raporlar</a:t>
            </a:r>
            <a:endParaRPr lang="en-US" sz="1150" dirty="0"/>
          </a:p>
        </p:txBody>
      </p:sp>
      <p:sp>
        <p:nvSpPr>
          <p:cNvPr id="47" name="Shape 35"/>
          <p:cNvSpPr/>
          <p:nvPr/>
        </p:nvSpPr>
        <p:spPr>
          <a:xfrm>
            <a:off x="6949440" y="4709160"/>
            <a:ext cx="1508760" cy="1325880"/>
          </a:xfrm>
          <a:prstGeom prst="roundRect">
            <a:avLst>
              <a:gd name="adj" fmla="val 827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48" name="Shape 36"/>
          <p:cNvSpPr/>
          <p:nvPr/>
        </p:nvSpPr>
        <p:spPr>
          <a:xfrm>
            <a:off x="7406640" y="4846320"/>
            <a:ext cx="594360" cy="59436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61174" y="5000854"/>
            <a:ext cx="285293" cy="285293"/>
          </a:xfrm>
          <a:prstGeom prst="rect">
            <a:avLst/>
          </a:prstGeom>
        </p:spPr>
      </p:pic>
      <p:sp>
        <p:nvSpPr>
          <p:cNvPr id="50" name="Text 37"/>
          <p:cNvSpPr txBox="1"/>
          <p:nvPr/>
        </p:nvSpPr>
        <p:spPr>
          <a:xfrm>
            <a:off x="6995160" y="551383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 aktar</a:t>
            </a:r>
            <a:endParaRPr lang="en-US" sz="1150" dirty="0"/>
          </a:p>
        </p:txBody>
      </p:sp>
      <p:sp>
        <p:nvSpPr>
          <p:cNvPr id="51" name="Shape 38"/>
          <p:cNvSpPr/>
          <p:nvPr/>
        </p:nvSpPr>
        <p:spPr>
          <a:xfrm>
            <a:off x="8595360" y="4709160"/>
            <a:ext cx="1508760" cy="1325880"/>
          </a:xfrm>
          <a:prstGeom prst="roundRect">
            <a:avLst>
              <a:gd name="adj" fmla="val 827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52" name="Shape 39"/>
          <p:cNvSpPr/>
          <p:nvPr/>
        </p:nvSpPr>
        <p:spPr>
          <a:xfrm>
            <a:off x="9052560" y="4846320"/>
            <a:ext cx="594360" cy="59436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5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07094" y="5000854"/>
            <a:ext cx="285293" cy="285293"/>
          </a:xfrm>
          <a:prstGeom prst="rect">
            <a:avLst/>
          </a:prstGeom>
        </p:spPr>
      </p:pic>
      <p:sp>
        <p:nvSpPr>
          <p:cNvPr id="54" name="Text 40"/>
          <p:cNvSpPr txBox="1"/>
          <p:nvPr/>
        </p:nvSpPr>
        <p:spPr>
          <a:xfrm>
            <a:off x="8641080" y="551383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Ayarlar &amp; Paket</a:t>
            </a:r>
            <a:endParaRPr lang="en-US" sz="1150" dirty="0"/>
          </a:p>
        </p:txBody>
      </p:sp>
      <p:sp>
        <p:nvSpPr>
          <p:cNvPr id="55" name="Shape 41"/>
          <p:cNvSpPr/>
          <p:nvPr/>
        </p:nvSpPr>
        <p:spPr>
          <a:xfrm>
            <a:off x="10241280" y="4709160"/>
            <a:ext cx="1508760" cy="1325880"/>
          </a:xfrm>
          <a:prstGeom prst="roundRect">
            <a:avLst>
              <a:gd name="adj" fmla="val 827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56" name="Shape 42"/>
          <p:cNvSpPr/>
          <p:nvPr/>
        </p:nvSpPr>
        <p:spPr>
          <a:xfrm>
            <a:off x="10698480" y="4846320"/>
            <a:ext cx="594360" cy="59436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5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53014" y="5000854"/>
            <a:ext cx="285293" cy="285293"/>
          </a:xfrm>
          <a:prstGeom prst="rect">
            <a:avLst/>
          </a:prstGeom>
        </p:spPr>
      </p:pic>
      <p:sp>
        <p:nvSpPr>
          <p:cNvPr id="58" name="Text 43"/>
          <p:cNvSpPr txBox="1"/>
          <p:nvPr/>
        </p:nvSpPr>
        <p:spPr>
          <a:xfrm>
            <a:off x="10287000" y="551383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&amp; Kurulum</a:t>
            </a:r>
            <a:endParaRPr lang="en-US" sz="1150" dirty="0"/>
          </a:p>
        </p:txBody>
      </p:sp>
      <p:sp>
        <p:nvSpPr>
          <p:cNvPr id="59" name="Text 44"/>
          <p:cNvSpPr txBox="1"/>
          <p:nvPr/>
        </p:nvSpPr>
        <p:spPr>
          <a:xfrm>
            <a:off x="548640" y="62179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özellikler: her ekranda açık/koyu tema uyumu · telefonda tek elle kullanım (44 px dokunma alanları) · Türkçe duyarlı arama (ı/i, ş/s fark etmez) · her kayıtta denetim izi</a:t>
            </a:r>
            <a:endParaRPr lang="en-US" sz="1150" dirty="0"/>
          </a:p>
        </p:txBody>
      </p:sp>
      <p:sp>
        <p:nvSpPr>
          <p:cNvPr id="60" name="Text 45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Emlak ·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Kokpit — "Bugün ne yapmalıyım?"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Açılış ekranı rapor değil, öncelik sırasına dizilmiş aksiyon listesidir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12064" y="1517904"/>
            <a:ext cx="6473952" cy="4073652"/>
          </a:xfrm>
          <a:prstGeom prst="roundRect">
            <a:avLst>
              <a:gd name="adj" fmla="val 179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tmp/claude-0/-home-user-DC-Emlak-Remax/29f9cb25-31a4-5a92-ac94-707b7b1e9f84/scratchpad/deck/shots/kokp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400800" cy="40005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0" y="1554480"/>
            <a:ext cx="432511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Hızlı işlemler: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portföy, Yeni müşteri, Gösterim planla, Hesaplayıcı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Aylık hedef: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"Hedef belirle" ile ciro hedefi; gerçekleşen = bu ay açılan işlemlerin komisyon matrahı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Beklenen komisyon: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aşama olasılığı × hizmet bedeli (Aday %5 … Tapu %95), KDV hariç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Uyum uyarıları: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EİDS, yetki, yer gösterme belgesi sayacı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 portföy: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yayındaki ve satış hattındaki portföy sayısı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Satış hattı: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aşama başına adet + beklenen komisyon çubuğu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Benim / Ofis: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ve takım lideri tüm ofisi görebilir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Emlak ·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Kokpit'in "Bugün" listesine düşen 8 aksiyon türü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satır tıklanınca ilgili ekrana götürür; renk: kırmızı engel · turuncu uyarı · mavi bilgi</a:t>
            </a:r>
            <a:endParaRPr lang="en-US" sz="15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6035040"/>
                <a:gridCol w="240487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Aksiyon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0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zaman düşer?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0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Tıklayınca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07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Portföy yayına çıkamaz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Yetki/Yayında aşamasında EİDS onayı, imzalı yetki sözleşmesi veya ofis yetki belgesi eksik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Portföy kartı · Uyum paneli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Yetki belgesi bitiyor / bitti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Ofisin taşınmaz ticareti yetki belgesi 30 gün içinde bitiyor veya bitmiş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Ayarlar → Ofis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Yetki sözleşmesi bitiyor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Portföyün yetki sözleşmesine 30, 15, 7 gün kaldı veya süresi doldu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Portföy kartı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Bugünkü gösterim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Bugün planlı gösterim; yer gösterme belgesi yok veya imzasızsa uyarı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Takvim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Görev (bugün / gecikmiş)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Vadesi bugün ya da geçmiş, tamamlanmamış görevler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Müşteri kartı / Takvim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Müşteri soğuyor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Alıcı/kiracı/yatırımcıyla 14 günden uzun süredir temas yok veya sonraki adımı yok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Müşteri kartı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Sıcak FSBO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Skoru 60+ olan ve başka danışmana atanmamış sahibinden ilan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FSBO Radar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Fiyat revizyonu önerisi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Yayındaki portföyün sağlık skoru 60'ın altında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Portföy kartı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Emlak · 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Portföyler — tüm stok tek bakışta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12064" y="1152144"/>
            <a:ext cx="6473952" cy="4073652"/>
          </a:xfrm>
          <a:prstGeom prst="roundRect">
            <a:avLst>
              <a:gd name="adj" fmla="val 179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tmp/claude-0/-home-user-DC-Emlak-Remax/29f9cb25-31a4-5a92-ac94-707b7b1e9f84/scratchpad/deck/shots/portfoyl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400800" cy="40005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0" y="1188720"/>
            <a:ext cx="432511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Görünüm: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 veya liste; kartta fotoğraf, fiyat, konum, oda/m², aşama, sağlık skoru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Uyum rozetleri: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yetki (kalan gün / imzasız / doldu), EİDS, malik KVKK durumu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Filtreler: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Satılık / Kiralık / Devren, ilçe, aşama (aktif veya arşiv dahil)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Arama: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başlık, mahalle, ada/parsel — Türkçe karakter duyarsız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Sıralama: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güncellenen, en yeni, fiyat artan/azalan, sağlık (düşük önce)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Boş ofis için: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"Excel/CSV'den aktar" ile tüm listeyi dakikalar içinde taşıyın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Emlak · 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Yeni portföy kaydı — tek form, eksiksiz tapu bilgisi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541264" y="1152144"/>
            <a:ext cx="6135624" cy="3862197"/>
          </a:xfrm>
          <a:prstGeom prst="roundRect">
            <a:avLst>
              <a:gd name="adj" fmla="val 1894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tmp/claude-0/-home-user-DC-Emlak-Remax/29f9cb25-31a4-5a92-ac94-707b7b1e9f84/scratchpad/deck/shots/portfoy-yen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188720"/>
            <a:ext cx="6062472" cy="378904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353312"/>
            <a:ext cx="219456" cy="21945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121615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1143000" y="149047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İlan ve emlak tipi (daire, villa, arsa, dükkân, ofis…), başlık, fiyat, oda+salon, brüt/net m², kat, bina yaşı, aidat, ısınma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359152"/>
            <a:ext cx="219456" cy="21945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222199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Konum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249631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İl/ilçe/mahalle, açık adres (paylaşımlı portföyde gizli), enlem/boylam — "Bulunduğum konumu kullan" tek tık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3364992"/>
            <a:ext cx="219456" cy="21945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43000" y="322783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Tapu &amp; Hukuk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1143000" y="350215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Ada, parsel, bağımsız bölüm, tapu türü, iskân, kredi, takyidat tarihi, ipotek, haciz, şerh, imar, TAKS/KAKS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548640" y="4251960"/>
            <a:ext cx="457200" cy="457200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4370832"/>
            <a:ext cx="219456" cy="21945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143000" y="423367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Özellikler</a:t>
            </a:r>
            <a:endParaRPr lang="en-US" sz="1400" dirty="0"/>
          </a:p>
        </p:txBody>
      </p:sp>
      <p:sp>
        <p:nvSpPr>
          <p:cNvPr id="20" name="Text 13"/>
          <p:cNvSpPr txBox="1"/>
          <p:nvPr/>
        </p:nvSpPr>
        <p:spPr>
          <a:xfrm>
            <a:off x="1143000" y="450799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Asansör, otopark, kapalı otopark, site, havuz, balkon, bahçe, deniz manzarası, eşyalı, güvenlik, metroya yakın…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548640" y="5257800"/>
            <a:ext cx="457200" cy="457200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5376672"/>
            <a:ext cx="219456" cy="219456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143000" y="523951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Malikler</a:t>
            </a:r>
            <a:endParaRPr lang="en-US" sz="1400" dirty="0"/>
          </a:p>
        </p:txBody>
      </p:sp>
      <p:sp>
        <p:nvSpPr>
          <p:cNvPr id="24" name="Text 16"/>
          <p:cNvSpPr txBox="1"/>
          <p:nvPr/>
        </p:nvSpPr>
        <p:spPr>
          <a:xfrm>
            <a:off x="1143000" y="551383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Kayıtlı kişi seç veya yeni kişi ekle; hisse (1/2, %50), vekil aracılığıyla işareti</a:t>
            </a:r>
            <a:endParaRPr lang="en-US" sz="1150" dirty="0"/>
          </a:p>
        </p:txBody>
      </p:sp>
      <p:sp>
        <p:nvSpPr>
          <p:cNvPr id="25" name="Text 17"/>
          <p:cNvSpPr txBox="1"/>
          <p:nvPr/>
        </p:nvSpPr>
        <p:spPr>
          <a:xfrm>
            <a:off x="5577840" y="5120640"/>
            <a:ext cx="6062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Fiyat değiştiğinde fiyat geçmişine otomatik eklenir · rakamlar "12.500.000" veya "12,5 M" yazılabilir</a:t>
            </a:r>
            <a:endParaRPr lang="en-US" sz="1150" dirty="0"/>
          </a:p>
        </p:txBody>
      </p:sp>
      <p:sp>
        <p:nvSpPr>
          <p:cNvPr id="26" name="Text 18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Emlak · 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Portföy kartı — 6 sekme + sağlık skoru + uyum paneli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12064" y="1152144"/>
            <a:ext cx="6473952" cy="4073652"/>
          </a:xfrm>
          <a:prstGeom prst="roundRect">
            <a:avLst>
              <a:gd name="adj" fmla="val 179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tmp/claude-0/-home-user-DC-Emlak-Remax/29f9cb25-31a4-5a92-ac94-707b7b1e9f84/scratchpad/deck/shots/portfoy-det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400800" cy="4000500"/>
          </a:xfrm>
          <a:prstGeom prst="rect">
            <a:avLst/>
          </a:prstGeom>
        </p:spPr>
      </p:pic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69480" y="1188720"/>
          <a:ext cx="437083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1363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Sekme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0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İçerik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07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Özellikler, malikler, fiyat geçmişi, açıklama + mevzuat filtresi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Tapu &amp; Hukuk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Tapu bilgileri, iskân/ipotek/haciz uyarıları, haritada aç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Medya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Fotoğraf, kat planı, video, 360°, sanal mobilya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Evrak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Yetki, DASK, iskân, KVKK, takyidat kontrol listesi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Eşleşmeler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 portföye uyan alıcılar, puan ve gerekçe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Portföyde gün, fiyat değişikliği, gösterim, teklif, geri bildirim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269480" y="4572000"/>
            <a:ext cx="43708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Mevzuat filtresi: </a:t>
            </a:r>
            <a:pPr indent="0" marL="0">
              <a:buNone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 ucuz", "garantili kira getirisi", "kaçırılmayacak fırsat", "piyasanın altında", "%100 kredi" gibi yanıltıcı ifadeler ilan metninde işaretlenir.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Emlak · 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Portföy kartının araçları — portföyü kaybetmemek için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353312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2161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Sağlık skoru (0–100)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14904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Fotoğraf sayısı (12+), kat planı, açıklama uzunluğu, fiyat uyumu, güncellik, teklifsiz geçen gün. Her eksik için somut öneri: "Kat planı ekleyin".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172200" y="1234440"/>
            <a:ext cx="457200" cy="457200"/>
          </a:xfrm>
          <a:prstGeom prst="ellipse">
            <a:avLst/>
          </a:prstGeom>
          <a:solidFill>
            <a:srgbClr val="1F5A99"/>
          </a:solidFill>
          <a:ln w="12700">
            <a:solidFill>
              <a:srgbClr val="1F5A9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1353312"/>
            <a:ext cx="219456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766560" y="12161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Yetki sözleşmesi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766560" y="14904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Münhasır/genel, hizmet bedeli oranı (yasal tavanı aşamaz), başlangıç, bitiş, imza tarihi. "Yeni dönem olarak kaydet" ile yenileme; eskisi geçmişte kalır.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58775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43000" y="24505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EİDS durumu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1143000" y="27249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Yok → Talep edildi → Onaylandı / Reddedildi + doğrulama no. Malike e-Devlet adım adım yönlendirme mesajı WhatsApp ile hazır.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172200" y="2468880"/>
            <a:ext cx="457200" cy="457200"/>
          </a:xfrm>
          <a:prstGeom prst="ellipse">
            <a:avLst/>
          </a:prstGeom>
          <a:solidFill>
            <a:srgbClr val="1F5A99"/>
          </a:solidFill>
          <a:ln w="12700">
            <a:solidFill>
              <a:srgbClr val="1F5A99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2587752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766560" y="24505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 sahibine rapor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6766560" y="27249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Haftalık rapor metni otomatik: gösterim, teklif, geri bildirim, fiyat. WhatsApp, e-posta veya kopyala; gönderim zaman tünelene işlenir.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3822192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143000" y="36850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Medya yönetimi</a:t>
            </a:r>
            <a:endParaRPr lang="en-US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1143000" y="39593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Fotoğraflar 1280 px'e küçültülerek yüklenir; kapak yap, öne/sona al, sil. Sanal mobilya görselleri "Temsilîdir" etiketi alır.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6172200" y="3703320"/>
            <a:ext cx="457200" cy="457200"/>
          </a:xfrm>
          <a:prstGeom prst="ellipse">
            <a:avLst/>
          </a:prstGeom>
          <a:solidFill>
            <a:srgbClr val="1F5A99"/>
          </a:solidFill>
          <a:ln w="12700">
            <a:solidFill>
              <a:srgbClr val="1F5A99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3822192"/>
            <a:ext cx="219456" cy="219456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766560" y="36850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DASK ve takyidat</a:t>
            </a:r>
            <a:endParaRPr lang="en-US" sz="1400" dirty="0"/>
          </a:p>
        </p:txBody>
      </p:sp>
      <p:sp>
        <p:nvSpPr>
          <p:cNvPr id="26" name="Text 18"/>
          <p:cNvSpPr txBox="1"/>
          <p:nvPr/>
        </p:nvSpPr>
        <p:spPr>
          <a:xfrm>
            <a:off x="6766560" y="39593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Poliçe no + bitiş tarihi girilir; "Bugün sorgulandı" ile takyidat tarihi güncellenir. Kapanışta zorunlu kontroller.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548640" y="4937760"/>
            <a:ext cx="457200" cy="457200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" y="5056632"/>
            <a:ext cx="219456" cy="219456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1143000" y="49194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Paylaşım seviyesi</a:t>
            </a:r>
            <a:endParaRPr lang="en-US" sz="1400" dirty="0"/>
          </a:p>
        </p:txBody>
      </p:sp>
      <p:sp>
        <p:nvSpPr>
          <p:cNvPr id="30" name="Text 21"/>
          <p:cNvSpPr txBox="1"/>
          <p:nvPr/>
        </p:nvSpPr>
        <p:spPr>
          <a:xfrm>
            <a:off x="1143000" y="519379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 / Ofis / Ağ. Paylaşımlı portföyde malik iletişimi yalnızca portföy sahibine ve yöneticilere görünür.</a:t>
            </a:r>
            <a:endParaRPr lang="en-US" sz="1150" dirty="0"/>
          </a:p>
        </p:txBody>
      </p:sp>
      <p:sp>
        <p:nvSpPr>
          <p:cNvPr id="31" name="Shape 22"/>
          <p:cNvSpPr/>
          <p:nvPr/>
        </p:nvSpPr>
        <p:spPr>
          <a:xfrm>
            <a:off x="6172200" y="4937760"/>
            <a:ext cx="457200" cy="457200"/>
          </a:xfrm>
          <a:prstGeom prst="ellipse">
            <a:avLst/>
          </a:prstGeom>
          <a:solidFill>
            <a:srgbClr val="1F5A99"/>
          </a:solidFill>
          <a:ln w="12700">
            <a:solidFill>
              <a:srgbClr val="1F5A99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1072" y="5056632"/>
            <a:ext cx="219456" cy="219456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6766560" y="49194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Arşivle</a:t>
            </a:r>
            <a:endParaRPr lang="en-US" sz="1400" dirty="0"/>
          </a:p>
        </p:txBody>
      </p:sp>
      <p:sp>
        <p:nvSpPr>
          <p:cNvPr id="34" name="Text 24"/>
          <p:cNvSpPr txBox="1"/>
          <p:nvPr/>
        </p:nvSpPr>
        <p:spPr>
          <a:xfrm>
            <a:off x="6766560" y="519379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Portföy listelerden ve eşleştirmeden çıkar; kayıt ve belgeler saklanmaya devam eder, geri alınabilir.</a:t>
            </a:r>
            <a:endParaRPr lang="en-US" sz="1150" dirty="0"/>
          </a:p>
        </p:txBody>
      </p:sp>
      <p:sp>
        <p:nvSpPr>
          <p:cNvPr id="35" name="Text 25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Emlak · 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İçe aktarma — Excel/CSV'deki eski listeniz 5 adımda içeride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98464" y="1197864"/>
            <a:ext cx="5678424" cy="3576447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tmp/claude-0/-home-user-DC-Emlak-Remax/29f9cb25-31a4-5a92-ac94-707b7b1e9f84/scratchpad/deck/shots/iceri-ak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234440"/>
            <a:ext cx="5605272" cy="35032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280160"/>
            <a:ext cx="420624" cy="420624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280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15568" y="1261872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içe aktarılacak? </a:t>
            </a:r>
            <a:pPr indent="0" marL="0">
              <a:buNone/>
            </a:pPr>
            <a:r>
              <a:rPr lang="en-US" sz="12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Portföy veya Kişi seçin. "⇩ Şablon" ile hazır CSV şablonunu indirin.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1956816"/>
            <a:ext cx="420624" cy="420624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1956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115568" y="1938528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 yükle: </a:t>
            </a:r>
            <a:pPr indent="0" marL="0">
              <a:buNone/>
            </a:pPr>
            <a:r>
              <a:rPr lang="en-US" sz="12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.xlsx (çok sayfalıysa sayfa seçimi) veya .csv (; , veya sekme ayraçlı, Türkçe karakterli).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2633472"/>
            <a:ext cx="420624" cy="420624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2633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115568" y="2615184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Sütunları eşleyin: </a:t>
            </a:r>
            <a:pPr indent="0" marL="0">
              <a:buNone/>
            </a:pPr>
            <a:r>
              <a:rPr lang="en-US" sz="12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Başlıklar otomatik tahmin edilir ("Fiyat", "price", "Tel"…); istemediğiniz sütun "— Aktarma —".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3310128"/>
            <a:ext cx="420624" cy="420624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3310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115568" y="3291840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Önizleme ve doğrulama: </a:t>
            </a:r>
            <a:pPr indent="0" marL="0">
              <a:buNone/>
            </a:pPr>
            <a:r>
              <a:rPr lang="en-US" sz="12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satır Tamam / Uyarı / Hata; "12,5 M", "3+1", "evet/hayır" okunur; mükerrer telefon uyarılır.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3986784"/>
            <a:ext cx="420624" cy="420624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3986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115568" y="3968496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</a:t>
            </a:r>
            <a:pPr indent="0" marL="0">
              <a:buNone/>
            </a:pPr>
            <a:r>
              <a:rPr lang="en-US" sz="12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kaç kayıt aktarıldı, kaçı hatalı atlandı. Sağlık skoru aktarımda hesaplanır.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48640" y="4937760"/>
            <a:ext cx="5212080" cy="1234440"/>
          </a:xfrm>
          <a:prstGeom prst="roundRect">
            <a:avLst>
              <a:gd name="adj" fmla="val 8889"/>
            </a:avLst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50749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KVKK notu: </a:t>
            </a:r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içe aktarılan kişiler için rıza kaydı oluşturulmaz; pazarlama mesajından önce Müşteriler modülünden rıza alınmalıdır (Uyum Motoru engeller).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Emlak · 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Müşteriler — "Hiçbir müşteri soğumaz"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12064" y="1152144"/>
            <a:ext cx="6473952" cy="4073652"/>
          </a:xfrm>
          <a:prstGeom prst="roundRect">
            <a:avLst>
              <a:gd name="adj" fmla="val 179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tmp/claude-0/-home-user-DC-Emlak-Remax/29f9cb25-31a4-5a92-ac94-707b7b1e9f84/scratchpad/deck/shots/musteril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400800" cy="40005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0" y="1188720"/>
            <a:ext cx="432511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 tipleri: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alıcı, satıcı, kiracı, kiraya veren, yatırımcı, yabancı alıcı, referans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Isı skoru: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temas, sonraki adım, aktif arayış, kredi ön onayı ve gösterim sayısından hesaplanır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Soğuyor uyarısı: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gün temas yok veya sonraki adım planlanmamış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Arama: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isim, telefon (rakamlarla), e-posta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Kapsam: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Benim / Tüm ofis (broker, asistan, takım lideri)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Rozetler: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KVKK rıza eksik, bugün yapılacak, başka danışmanın kaydı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Emlak · 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Müşteri kartı — arayış, zaman tüneli, KVKK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12064" y="1152144"/>
            <a:ext cx="5833872" cy="3673602"/>
          </a:xfrm>
          <a:prstGeom prst="roundRect">
            <a:avLst>
              <a:gd name="adj" fmla="val 1991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tmp/claude-0/-home-user-DC-Emlak-Remax/29f9cb25-31a4-5a92-ac94-707b7b1e9f84/scratchpad/deck/shots/musteri-det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5760720" cy="36004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0" y="1234440"/>
            <a:ext cx="457200" cy="457200"/>
          </a:xfrm>
          <a:prstGeom prst="ellipse">
            <a:avLst/>
          </a:prstGeom>
          <a:solidFill>
            <a:srgbClr val="1F5A99"/>
          </a:solidFill>
          <a:ln w="12700">
            <a:solidFill>
              <a:srgbClr val="1F5A99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1353312"/>
            <a:ext cx="219456" cy="21945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178040" y="1216152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tık iletişim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7178040" y="1490472"/>
            <a:ext cx="4462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 Ara (tel:), WhatsApp, ⇄ Eşleştir, Düzenle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6583680" y="2212848"/>
            <a:ext cx="457200" cy="457200"/>
          </a:xfrm>
          <a:prstGeom prst="ellipse">
            <a:avLst/>
          </a:prstGeom>
          <a:solidFill>
            <a:srgbClr val="1F5A99"/>
          </a:solidFill>
          <a:ln w="12700">
            <a:solidFill>
              <a:srgbClr val="1F5A99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552" y="2331720"/>
            <a:ext cx="219456" cy="21945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178040" y="2194560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Arayış profilleri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7178040" y="2468880"/>
            <a:ext cx="4462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İlan tipi, bütçe min/max + tolerans %, ilçeler, mahalleler, en az oda / m², kredi kullanacak, ön onay, olmazsa olmaz ve olsa iyi olur kriterleri, aktif/pasif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583680" y="3191256"/>
            <a:ext cx="457200" cy="457200"/>
          </a:xfrm>
          <a:prstGeom prst="ellipse">
            <a:avLst/>
          </a:prstGeom>
          <a:solidFill>
            <a:srgbClr val="1F5A99"/>
          </a:solidFill>
          <a:ln w="12700">
            <a:solidFill>
              <a:srgbClr val="1F5A99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2" y="3310128"/>
            <a:ext cx="219456" cy="21945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178040" y="3172968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tüneli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7178040" y="3447288"/>
            <a:ext cx="4462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Arama, mesaj, not, sesli not, gösterim, görev, e-posta; görevlerde vade ve "sonraki adım olarak ayarla"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6583680" y="4169664"/>
            <a:ext cx="457200" cy="457200"/>
          </a:xfrm>
          <a:prstGeom prst="ellipse">
            <a:avLst/>
          </a:prstGeom>
          <a:solidFill>
            <a:srgbClr val="1F5A99"/>
          </a:solidFill>
          <a:ln w="12700">
            <a:solidFill>
              <a:srgbClr val="1F5A99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2552" y="4288536"/>
            <a:ext cx="219456" cy="21945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178040" y="4151376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Sesle not</a:t>
            </a:r>
            <a:endParaRPr lang="en-US" sz="1400" dirty="0"/>
          </a:p>
        </p:txBody>
      </p:sp>
      <p:sp>
        <p:nvSpPr>
          <p:cNvPr id="20" name="Text 13"/>
          <p:cNvSpPr txBox="1"/>
          <p:nvPr/>
        </p:nvSpPr>
        <p:spPr>
          <a:xfrm>
            <a:off x="7178040" y="4425696"/>
            <a:ext cx="4462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Konuşun, metne dönüşsün (tarayıcı destekliyorsa); değilse telefon klavyesi dikte ipucu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6583680" y="5148072"/>
            <a:ext cx="457200" cy="457200"/>
          </a:xfrm>
          <a:prstGeom prst="ellipse">
            <a:avLst/>
          </a:prstGeom>
          <a:solidFill>
            <a:srgbClr val="1F5A99"/>
          </a:solidFill>
          <a:ln w="12700">
            <a:solidFill>
              <a:srgbClr val="1F5A99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2552" y="5266944"/>
            <a:ext cx="219456" cy="219456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178040" y="5129784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Mükerrer kontrol</a:t>
            </a:r>
            <a:endParaRPr lang="en-US" sz="1400" dirty="0"/>
          </a:p>
        </p:txBody>
      </p:sp>
      <p:sp>
        <p:nvSpPr>
          <p:cNvPr id="24" name="Text 16"/>
          <p:cNvSpPr txBox="1"/>
          <p:nvPr/>
        </p:nvSpPr>
        <p:spPr>
          <a:xfrm>
            <a:off x="7178040" y="5404104"/>
            <a:ext cx="4462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telefonla kayıtlı kişi varsa uyarır, mevcut kaydı açtırır</a:t>
            </a:r>
            <a:endParaRPr lang="en-US" sz="1150" dirty="0"/>
          </a:p>
        </p:txBody>
      </p:sp>
      <p:sp>
        <p:nvSpPr>
          <p:cNvPr id="25" name="Text 17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Emlak · 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KVKK rızası — müşteri telefonundan 1 dakikada imzalar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20624" cy="420624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1261872"/>
            <a:ext cx="6931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kartı → KVKK ve rızalar: </a:t>
            </a:r>
            <a:pPr indent="0" marL="0">
              <a:buNone/>
            </a:pPr>
            <a:r>
              <a:rPr lang="en-US" sz="12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aydınlatma, ticari ileti (İYS), arama kaydı, yurt dışı aktarım, görsel kullanımı — her biri ayrı.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956816"/>
            <a:ext cx="420624" cy="420624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56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1938528"/>
            <a:ext cx="6931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kaydet: </a:t>
            </a:r>
            <a:pPr indent="0" marL="0">
              <a:buNone/>
            </a:pPr>
            <a:r>
              <a:rPr lang="en-US" sz="12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sözlü / form / OTP kaynağı seçilerek "Kaydet"; "Geri al" silmez, denetim için saklar.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633472"/>
            <a:ext cx="420624" cy="420624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633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2615184"/>
            <a:ext cx="6931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"Rıza linki gönder": </a:t>
            </a:r>
            <a:pPr indent="0" marL="0">
              <a:buNone/>
            </a:pPr>
            <a:r>
              <a:rPr lang="en-US" sz="12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Rıza Formu kişiye özel dolar, tek kullanımlık imza bağlantısı WhatsApp'a hazır gelir.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310128"/>
            <a:ext cx="420624" cy="420624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310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3291840"/>
            <a:ext cx="6931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linki açar: </a:t>
            </a:r>
            <a:pPr indent="0" marL="0">
              <a:buNone/>
            </a:pPr>
            <a:r>
              <a:rPr lang="en-US" sz="12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yapmadan formu okur, adını yazar, kutucukları işaretler, "Onaylıyorum ve imzalıyorum".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986784"/>
            <a:ext cx="420624" cy="420624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986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" y="3968496"/>
            <a:ext cx="6931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Kanıt saklanır: </a:t>
            </a:r>
            <a:pPr indent="0" marL="0">
              <a:buNone/>
            </a:pPr>
            <a:r>
              <a:rPr lang="en-US" sz="12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damgası, belge özeti (SHA-256), cihaz bilgisi; bağlantı imzadan sonra geçersiz olur.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663440"/>
            <a:ext cx="420624" cy="420624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663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" y="4645152"/>
            <a:ext cx="6931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</a:t>
            </a:r>
            <a:pPr indent="0" marL="0">
              <a:buNone/>
            </a:pPr>
            <a:r>
              <a:rPr lang="en-US" sz="12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rıza yoksa katalog ve pazarlama mesajları Uyum Motoru tarafından engellenir.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604504" y="1152144"/>
            <a:ext cx="2404872" cy="5119233"/>
          </a:xfrm>
          <a:prstGeom prst="roundRect">
            <a:avLst>
              <a:gd name="adj" fmla="val 3042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22" name="Image 0" descr="/tmp/claude-0/-home-user-DC-Emlak-Remax/29f9cb25-31a4-5a92-ac94-707b7b1e9f84/scratchpad/deck/shots/m-imz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0" y="1188720"/>
            <a:ext cx="2331720" cy="5046081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Emlak · 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Eşleştirme — doğru portföy, doğru alıcıya, saniyeler içinde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12064" y="1152144"/>
            <a:ext cx="6108192" cy="3845052"/>
          </a:xfrm>
          <a:prstGeom prst="roundRect">
            <a:avLst>
              <a:gd name="adj" fmla="val 1902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tmp/claude-0/-home-user-DC-Emlak-Remax/29f9cb25-31a4-5a92-ac94-707b7b1e9f84/scratchpad/deck/shots/eslestir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035040" cy="3771900"/>
          </a:xfrm>
          <a:prstGeom prst="rect">
            <a:avLst/>
          </a:prstGeom>
        </p:spPr>
      </p:pic>
      <p:graphicFrame>
        <p:nvGraphicFramePr>
          <p:cNvPr id="5" name="Chart 0" descr=""/>
          <p:cNvGraphicFramePr/>
          <p:nvPr/>
        </p:nvGraphicFramePr>
        <p:xfrm>
          <a:off x="6858000" y="1188720"/>
          <a:ext cx="4782312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858000" y="3520440"/>
            <a:ext cx="47823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yönlü: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Müşteriye göre portföy · Portföye göre müşteri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 filtreler (eler):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bütçe üstü (tolerans hariç), kredi uygunsuzluğu, zorunlu kriter eksikliği, bölge dışı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Gerekçeli sonuç: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"Bütçe içinde", "İstenen mahalle: Moda", "Tercihler: balkon"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Katalog paylaş: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seçilen portföyler WhatsApp mesajı olur; önce KVKK + İYS izni kontrol edilir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 eşleştirme: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uygun portföy yoksa FSBO Radar'da hedefli av önerisi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Emlak · 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FSBO Radar — sahibinden ilanları portföye çeviren makine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12064" y="1152144"/>
            <a:ext cx="6108192" cy="3845052"/>
          </a:xfrm>
          <a:prstGeom prst="roundRect">
            <a:avLst>
              <a:gd name="adj" fmla="val 1902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tmp/claude-0/-home-user-DC-Emlak-Remax/29f9cb25-31a4-5a92-ac94-707b7b1e9f84/scratchpad/deck/shots/fsb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035040" cy="37719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0" y="1188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Sıcaklık skoru neye bakar?</a:t>
            </a:r>
            <a:endParaRPr lang="en-US" sz="15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600200"/>
          <a:ext cx="478231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40487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Sinyal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0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Etkisi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07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İlan yaşı 21–60 gün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verimli dönem (kendi satamadığını anlıyor)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Fiyat düşüşü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düşüş skoru artırır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"acil", "tayin", "yurt dışı", "borç", "miras", "pazarlıklı"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Satış motivasyonu sinyali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Fiyat piyasanın %10+ üstünde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Profesyonel desteğe ihtiyaç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6'dan az fotoğraf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Zayıf ilan sunumu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858000" y="4434840"/>
            <a:ext cx="47823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Üst panel: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bugünkü arama sırası, yeni (24 saat), dönüşüm hunisi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Filtreler: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ilçe, minimum skor, durum, bana atananlar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İlan ekle: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başlık, bağlantı, fiyat, malik, açıklama, foto/fiyat düşüşü sayısı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Yasal: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veri çekme (scraping) yok; kayıtlı arama bağlantılarından elle eklenir</a:t>
            </a:r>
            <a:endParaRPr lang="en-US" sz="1150" dirty="0"/>
          </a:p>
        </p:txBody>
      </p:sp>
      <p:sp>
        <p:nvSpPr>
          <p:cNvPr id="8" name="Text 4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Emlak · 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"ARA" ekranı — senaryo, itiraz cevapları, takip kadansı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12064" y="1152144"/>
            <a:ext cx="6108192" cy="3845052"/>
          </a:xfrm>
          <a:prstGeom prst="roundRect">
            <a:avLst>
              <a:gd name="adj" fmla="val 1902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tmp/claude-0/-home-user-DC-Emlak-Remax/29f9cb25-31a4-5a92-ac94-707b7b1e9f84/scratchpad/deck/shots/fsbo-a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035040" cy="37719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0" y="1188720"/>
            <a:ext cx="4782312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tuşla arama: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malik telefonu tel: bağlantısıyla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Kişiselleştirilmiş açılış senaryosu: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malik adı, mahalle, ücretsiz emsalli değerleme teklifi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itiraz cevabı: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"Komisyon vermem" · "Kendim satarım" · "Başka emlakçı da aradı" · "Fiyatım düşük değil"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Takip kadansı: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gün ilk arama → 3. gün değerleme raporu → 7. gün piyasa bülteni → 14. gün yeniden arama → 30. gün "hâlâ yayında" mesajı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butonları: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Ulaşılamadı · Görüşüldü · Değerleme randevusu · Vazgeçti — durum güncellenir, sıradaki adım Kokpit'e görev olarak düşer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Ekip çakışması: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başka danışmana atanmışsa adıyla uyarır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⌂ Portföye dönüştür: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 + portföy + malik bağı tek tıkla oluşur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Emlak · 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İşlemler — sürükle-bırak satış hattı, her geçişte Uyum Motoru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12064" y="1152144"/>
            <a:ext cx="6382512" cy="4016502"/>
          </a:xfrm>
          <a:prstGeom prst="roundRect">
            <a:avLst>
              <a:gd name="adj" fmla="val 1821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tmp/claude-0/-home-user-DC-Emlak-Remax/29f9cb25-31a4-5a92-ac94-707b7b1e9f84/scratchpad/deck/shots/uyum-eng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309360" cy="3943350"/>
          </a:xfrm>
          <a:prstGeom prst="rect">
            <a:avLst/>
          </a:prstGeom>
        </p:spPr>
      </p:pic>
      <p:graphicFrame>
        <p:nvGraphicFramePr>
          <p:cNvPr id="5" name="Chart 0" descr=""/>
          <p:cNvGraphicFramePr/>
          <p:nvPr/>
        </p:nvGraphicFramePr>
        <p:xfrm>
          <a:off x="7132320" y="1188720"/>
          <a:ext cx="4507992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132320" y="3886200"/>
            <a:ext cx="450799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Masaüstü: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kartı sürükleyip bırakın; telefonda karta dokunup aşama seçin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"Yayında" ve sonrası: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imzalı yetki sözleşmesi + EİDS onayı zorunlu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"Satıldı/Kiralandı":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DASK, tapu kaydı sorgusu, müşteriyi tanıma (MASAK)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ENGELLE / UYAR / GEÇ: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uyarıda gerekçe yazılarak devam; her karar denetim kaydına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 üstünde: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fiyat, danışman, yetki/EİDS rozetleri, beklenen komisyon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Emlak · 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İşlem alanı — teklif zinciri ve kapanış kontrol listesi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12064" y="1152144"/>
            <a:ext cx="5833872" cy="3673602"/>
          </a:xfrm>
          <a:prstGeom prst="roundRect">
            <a:avLst>
              <a:gd name="adj" fmla="val 1991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tmp/claude-0/-home-user-DC-Emlak-Remax/29f9cb25-31a4-5a92-ac94-707b7b1e9f84/scratchpad/deck/shots/islem-det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5760720" cy="36004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920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Teklifler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Teklif veren (kayıtlı veya yeni kişi), tutar, ödeme, teslim, geçerlilik, koşullar. Karşı teklif zinciri; Kabul et → diğer açık teklifler reddedilir, işlem kaydı oluşur, portföy Uyum Motoru üzerinden Kapora'ya geçer. Reddet / Süresi doldu işaretle.</a:t>
            </a:r>
            <a:endParaRPr lang="en-US" sz="115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188720"/>
          <a:ext cx="510235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4505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Satış kontrol listesi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0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Kiralama kontrol listesi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07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Tapu kaydı (takyidat) sorgusu 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Kimlik ve gelir kontrolü 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İskân / kat mülkiyeti 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Kefil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DASK poliçesi 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Depozito (en çok 3 aylık kira) 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Aidat borcu yok yazısı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Demirbaş listesi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Emlak vergisi borcu yok yazısı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Fotoğraflı teslim tutanağı 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Müşteriyi tanıma (MASAK) 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Kira sözleşmesi 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Kredi / ekspertiz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DASK 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Tapu randevusu ve harç 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Abonelik devirleri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Abonelikler, anahtar teslimi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Fatura ve komisyon tahsilatı 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537960" y="5577840"/>
            <a:ext cx="5102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zorunlu adım · "Tapuya X gün" sayacı · kapanış uyum ön kontrolü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Emlak · 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Komisyon ve paylaşım — yasal tavan kontrollü, kuruşu kuruşuna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12064" y="1152144"/>
            <a:ext cx="5833872" cy="3673602"/>
          </a:xfrm>
          <a:prstGeom prst="roundRect">
            <a:avLst>
              <a:gd name="adj" fmla="val 1991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tmp/claude-0/-home-user-DC-Emlak-Remax/29f9cb25-31a4-5a92-ac94-707b7b1e9f84/scratchpad/deck/shots/islem-komisy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5760720" cy="36004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537960" y="1188720"/>
            <a:ext cx="5102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Örnek: 10.000.000 ₺ satış, iki taraftan %2</a:t>
            </a:r>
            <a:endParaRPr lang="en-US" sz="15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600200"/>
          <a:ext cx="510235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9933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0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Tutar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07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Alıcı hizmet bedeli (%2)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200.000 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Satıcı hizmet bedeli (%2)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200.000 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KDV (%20)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80.000 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Toplam tahsilat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480.000 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Ofis payı (%50, KDV hariç)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200.000 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Danışman payı (%50)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200.000 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537960" y="4434840"/>
            <a:ext cx="51023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Tavan aşılamaz: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satışta taraf başı %2, kiralamada toplam 1 aylık kira (+KDV)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 paylar: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portföy getiren, müşteri getiren, referans — önce ayrılır, kalan ofis/danışman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Tahsilat takibi: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satır Tahsil edildi / Bekliyor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Müşteriye gösterilecek: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alıcının toplam maliyeti ve satıcının eline geçecek net</a:t>
            </a:r>
            <a:endParaRPr lang="en-US" sz="1150" dirty="0"/>
          </a:p>
        </p:txBody>
      </p:sp>
      <p:sp>
        <p:nvSpPr>
          <p:cNvPr id="8" name="Text 4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Emlak · 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Takvim &amp; Gösterim — belgesiz gösterim kapanmaz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12064" y="1152144"/>
            <a:ext cx="5833872" cy="3673602"/>
          </a:xfrm>
          <a:prstGeom prst="roundRect">
            <a:avLst>
              <a:gd name="adj" fmla="val 1991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tmp/claude-0/-home-user-DC-Emlak-Remax/29f9cb25-31a4-5a92-ac94-707b7b1e9f84/scratchpad/deck/shots/takv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5760720" cy="36004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37960" y="1234440"/>
            <a:ext cx="420624" cy="420624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537960" y="1234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104888" y="1216152"/>
            <a:ext cx="4535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Randevu: </a:t>
            </a:r>
            <a:pPr indent="0" marL="0">
              <a:buNone/>
            </a:pPr>
            <a:r>
              <a:rPr lang="en-US" sz="12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portföy, kişi, tarih-saat, danışman; "Yer gösterme belgesi taslağını şimdi hazırla".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537960" y="1911096"/>
            <a:ext cx="420624" cy="420624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37960" y="1911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104888" y="1892808"/>
            <a:ext cx="4535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Belge otomatik dolar: </a:t>
            </a:r>
            <a:pPr indent="0" marL="0">
              <a:buNone/>
            </a:pPr>
            <a:r>
              <a:rPr lang="en-US" sz="12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kişi, portföy, ada/parsel, saat, ofis; eksik zorunlu alan hızlı formda.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537960" y="2587752"/>
            <a:ext cx="420624" cy="420624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37960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104888" y="2569464"/>
            <a:ext cx="4535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Bağlantıyı paylaş: </a:t>
            </a:r>
            <a:pPr indent="0" marL="0">
              <a:buNone/>
            </a:pPr>
            <a:r>
              <a:rPr lang="en-US" sz="12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e-posta / kopyala — müşteri telefonundan imzalar. Islak imza seçeneği de var.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537960" y="3264408"/>
            <a:ext cx="420624" cy="420624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37960" y="3264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104888" y="3246120"/>
            <a:ext cx="4535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Tamamlandı: </a:t>
            </a:r>
            <a:pPr indent="0" marL="0">
              <a:buNone/>
            </a:pPr>
            <a:r>
              <a:rPr lang="en-US" sz="12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belge imzasızsa Uyum Motoru ENGELLER; imzalıysa gösterim kapanır.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537960" y="3941064"/>
            <a:ext cx="420624" cy="420624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37960" y="3941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104888" y="3922776"/>
            <a:ext cx="4535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bildirim: </a:t>
            </a:r>
            <a:pPr indent="0" marL="0">
              <a:buNone/>
            </a:pPr>
            <a:r>
              <a:rPr lang="en-US" sz="12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izlenim, fiyat, konum 1–5 + not → mal sahibi raporuna gider.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537960" y="4617720"/>
            <a:ext cx="420624" cy="420624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37960" y="4617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104888" y="4599432"/>
            <a:ext cx="4535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 tarifi ve Güvendeyim: </a:t>
            </a:r>
            <a:pPr indent="0" marL="0">
              <a:buNone/>
            </a:pPr>
            <a:r>
              <a:rPr lang="en-US" sz="12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Maps; tek başına gösterimde süre sayacı ve takım liderine haber.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48920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 ve hafta görünümü · vadeli görevler de ajandada · telefonda tam uyumlu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Emlak · 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Sözleşmeler &amp; Evrak — 11 hazır şablon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12064" y="1152144"/>
            <a:ext cx="5833872" cy="3673602"/>
          </a:xfrm>
          <a:prstGeom prst="roundRect">
            <a:avLst>
              <a:gd name="adj" fmla="val 1991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tmp/claude-0/-home-user-DC-Emlak-Remax/29f9cb25-31a4-5a92-ac94-707b7b1e9f84/scratchpad/deck/shots/sozlesmel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5760720" cy="3600450"/>
          </a:xfrm>
          <a:prstGeom prst="rect">
            <a:avLst/>
          </a:prstGeom>
        </p:spPr>
      </p:pic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188720"/>
          <a:ext cx="5102352" cy="914400"/>
        </p:xfrm>
        <a:graphic>
          <a:graphicData uri="http://schemas.openxmlformats.org/drawingml/2006/table">
            <a:tbl>
              <a:tblPr/>
              <a:tblGrid>
                <a:gridCol w="3429000"/>
                <a:gridCol w="167335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Şablon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0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Kullanım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07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Taşınmaz Alım/Satım ve Kiralama Yetki Sözleşmesi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Münhasır / genel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Yer Gösterme Belgesi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gösterim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Kapora / Ön Satış Protokolü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Teklif kabulü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Konut Kira Sözleşmesi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Konut kiralama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İşyeri Kira Sözleşmesi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Stopaj, KDV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Tahliye Taahhütnamesi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Tarih kontrollü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Anahtar ve Demirbaş Teslim Tutanağı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Sayaçlar, hasar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KVKK Aydınlatma Metni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sorumlusu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Açık Rıza Formu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İYS, arama kaydı…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Ortak Satış (Co-Broke) Protokolü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Ofisler arası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Müşteriyi Tanı (MASAK) Formu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Yüksek tutarlı işlem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8920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şablonlar "Taslak — hukuk onayı bekliyor" etiketlidir; canlı kullanımdan önce avukat onayı gerekir. DASK poliçesi kayıtları da burada salt okunur listelenir.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Emlak · 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Belge üretimi ve uzaktan imza — ofise gelmeden imza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12064" y="1152144"/>
            <a:ext cx="5833872" cy="3673602"/>
          </a:xfrm>
          <a:prstGeom prst="roundRect">
            <a:avLst>
              <a:gd name="adj" fmla="val 1991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tmp/claude-0/-home-user-DC-Emlak-Remax/29f9cb25-31a4-5a92-ac94-707b7b1e9f84/scratchpad/deck/shots/sozlesme-yen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5760720" cy="36004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537960" y="1188720"/>
            <a:ext cx="5102352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doldurma: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ofis unvanı, yetki belgesi no, MERSİS/vergi, danışman, portföy adresi/ada/parsel/fiyat, malik, karşı taraf, tarih, belge no, yasal komisyon tavanı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Canlı önizleme: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eksik zorunlu alan kırmızı; tamamlanmadan imzaya gönderilemez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Kontroller: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tahliye taahhüdü tarih sırası, komisyon tavanı, taslak şablon uyarısı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İmzaya gönder: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kullanımlık bağlantı (43 karakter), WhatsApp / e-posta / kopyala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İmza kanıtı: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soyad, zaman damgası (UTC + TSİ), SHA-256 belge özeti, cihaz, isteğe bağlı konum; IP (Supabase modunda)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Sonrası: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Yazdır / PDF, Geri çek ve düzenle, Islak imza kaydı, İptal (silinmez, 10 yıl saklanır)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Yetki sözleşmesi imzalanınca: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portföyün yetki kaydı otomatik güncellenir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Emlak · 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Raporlar — ofisin nabzı son 12 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12064" y="1152144"/>
            <a:ext cx="6473952" cy="4073652"/>
          </a:xfrm>
          <a:prstGeom prst="roundRect">
            <a:avLst>
              <a:gd name="adj" fmla="val 179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tmp/claude-0/-home-user-DC-Emlak-Remax/29f9cb25-31a4-5a92-ac94-707b7b1e9f84/scratchpad/deck/shots/rapor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400800" cy="40005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0" y="1188720"/>
            <a:ext cx="4325112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 kartları: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aylık komisyon (KDV hariç), 12 aylık işlem cirosu, ortalama satış süresi, aktif portföy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Aylık işlemler: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tapu tarihine göre adet ve ciro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Portföy aşamaları: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 aşamada kaç portföy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kaynağı: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müşteriler nereden geliyor (referans, sahibinden, Instagram…)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Dönüşüm hunisi: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 → gösterim → teklif → işlem, adım adım oran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FSBO durumları: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yeni, arandı, görüşüldü, değerleme, yetki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Danışman sıralaması: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portföy, gösterim, işlem, ciro, komisyon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grafik: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üzerine gelince değer; "Tablo olarak göster"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Emlak · 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Hesaplayıcılar — müşterinin sorusuna masada cevap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12064" y="1152144"/>
            <a:ext cx="6108192" cy="3845052"/>
          </a:xfrm>
          <a:prstGeom prst="roundRect">
            <a:avLst>
              <a:gd name="adj" fmla="val 1902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tmp/claude-0/-home-user-DC-Emlak-Remax/29f9cb25-31a4-5a92-ac94-707b7b1e9f84/scratchpad/deck/shots/hesaplayici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035040" cy="37719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0" y="1188720"/>
            <a:ext cx="4782312" cy="1417320"/>
          </a:xfrm>
          <a:prstGeom prst="roundRect">
            <a:avLst>
              <a:gd name="adj" fmla="val 7742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086600" y="1325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Satış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086600" y="16459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Satış bedeli, alıcı/satıcı hizmet bedeli %, DASK, kalan kredi borcu → hizmet bedeli + KDV, alıcının toplam maliyeti (tapu harcı ‰20, döner sermaye), satıcının eline geçen, ofis/danışman payı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858000" y="2761488"/>
            <a:ext cx="4782312" cy="1417320"/>
          </a:xfrm>
          <a:prstGeom prst="roundRect">
            <a:avLst>
              <a:gd name="adj" fmla="val 7742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086600" y="28986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Kiralama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086600" y="3218688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Aylık kira, kiracıdan / kiraya verenden (ay) → hizmet bedeli + KDV; depozito 3 aylık kirayı aşarsa uyarı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0" y="4334256"/>
            <a:ext cx="4782312" cy="1417320"/>
          </a:xfrm>
          <a:prstGeom prst="roundRect">
            <a:avLst>
              <a:gd name="adj" fmla="val 7742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086600" y="447141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 artışı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086600" y="4791456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kira + TÜİK 12 aylık TÜFE ortalaması → yasal azami yeni kira ve artış tutarı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1206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Parametreler (sürüm 2026.09) sayfanın altında; "teyit edilmeli" değerler işaretli.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Emlak · 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Ayarlar &amp; Paket — 6 sekme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12064" y="1152144"/>
            <a:ext cx="5833872" cy="3673602"/>
          </a:xfrm>
          <a:prstGeom prst="roundRect">
            <a:avLst>
              <a:gd name="adj" fmla="val 1991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tmp/claude-0/-home-user-DC-Emlak-Remax/29f9cb25-31a4-5a92-ac94-707b7b1e9f84/scratchpad/deck/shots/ayarlar-entegrasy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5760720" cy="3600450"/>
          </a:xfrm>
          <a:prstGeom prst="rect">
            <a:avLst/>
          </a:prstGeom>
        </p:spPr>
      </p:pic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188720"/>
          <a:ext cx="510235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73075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Sekme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0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İçerik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07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Unvan, vergi no, MERSİS, yetki belgesi + geçerlilik, varsayılan ofis payı % (yalnız broker)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Üyeler, rol değiştirme, aktif/pasif, davet kodu oluştur, WhatsApp ile gönder, bekleyen davetleri iptal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Temel / Profesyonel / Premium, deneme bitişi, paket değişikliği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Entegrasyonlar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SMS, WhatsApp API, Yapay Zekâ, e-İmza, e-Fatura; sağlayıcı + API anahtarı (Vault'ta şifreli)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&amp; KVKK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Tüm ofis verisini JSON indir (yalnız broker), demo sıfırla, VERBİS / yurt dışı aktarım / saklama hatırlatmaları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Parametreler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Sürümlü mevzuat oranları, "Teyit gerekli" işaretleri (salt okunur)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8920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modunda "Çıkış yap" da buradadır.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Emlak · 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Cebinizde — telefon için tasarlandı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ekrana eklenir, uygulama gibi açılır; alt menü: Kokpit · Portföy · Müşteri · Takvim · Menü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9224" y="1563624"/>
            <a:ext cx="1993392" cy="4228748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tmp/claude-0/-home-user-DC-Emlak-Remax/29f9cb25-31a4-5a92-ac94-707b7b1e9f84/scratchpad/deck/shots/m-kokp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1920240" cy="41555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889504" y="1563624"/>
            <a:ext cx="1993392" cy="4228748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1" descr="/tmp/claude-0/-home-user-DC-Emlak-Remax/29f9cb25-31a4-5a92-ac94-707b7b1e9f84/scratchpad/deck/shots/m-portfo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1600200"/>
            <a:ext cx="1920240" cy="415559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129784" y="1563624"/>
            <a:ext cx="1993392" cy="4228748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2" descr="/tmp/claude-0/-home-user-DC-Emlak-Remax/29f9cb25-31a4-5a92-ac94-707b7b1e9f84/scratchpad/deck/shots/m-fsb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1600200"/>
            <a:ext cx="1920240" cy="4155596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7370064" y="1563624"/>
            <a:ext cx="1993392" cy="4228748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3" descr="/tmp/claude-0/-home-user-DC-Emlak-Remax/29f9cb25-31a4-5a92-ac94-707b7b1e9f84/scratchpad/deck/shots/m-takv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1600200"/>
            <a:ext cx="1920240" cy="4155596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9610344" y="1563624"/>
            <a:ext cx="1993392" cy="4228748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4" descr="/tmp/claude-0/-home-user-DC-Emlak-Remax/29f9cb25-31a4-5a92-ac94-707b7b1e9f84/scratchpad/deck/shots/m-imz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6920" y="1600200"/>
            <a:ext cx="1920240" cy="4155596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Emlak · 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E4A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17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Mevzuat, güvenlik ve paketler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77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Uyum Motoru kuralları, KVKK ve veri güvenliği, SaaS paketleri, canlıya geçiş kontrol listesi.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778240" y="2011680"/>
            <a:ext cx="2560320" cy="2560320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3923" y="2677363"/>
            <a:ext cx="1228954" cy="122895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Uyum Motoru — işlemden önce 15 kontrol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ENGELLE: işlem yapılamaz · UYAR: gerekçeyle devam · GEÇ — hepsi denetim kaydına yazılır</a:t>
            </a:r>
            <a:endParaRPr lang="en-US" sz="15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120640"/>
                <a:gridCol w="1554480"/>
                <a:gridCol w="2404872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0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0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0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Dayanak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07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İlan yayınlama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Ofisin geçerli yetki belgesi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ENGELLE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Taşınmaz Ticareti Yön.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İlan yayınlama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İmzalı, süresi dolmamış yetki sözleşmesi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ENGELLE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Taşınmaz Ticareti Yön.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İlan yayınlama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Yetki bitişine ≤ 30 gün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UYAR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İlan yayınlama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EİDS onayı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ENGELLE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EİDS düzenlemesi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İlan yayınlama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Yanıltıcı ifade filtresi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UYAR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Reklam mevzuatı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Gösterim kapatma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İmzalı yer gösterme belgesi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ENGELLE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Taşınmaz Ticareti Yön.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Ticari ileti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İYS izni / KVKK açık rıza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ENGELLE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6563 · 6698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Belge imzası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Zorunlu alanlar dolu, tarih sırası, taslak uyarısı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ENGELLE/UYAR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Komisyon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Satış %2/taraf, kira 1 aylık tavanı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ENGELLE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Taşınmaz Ticareti Yön.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Depozito ≤ 3 ay, artış ≤ 12 aylık TÜFE ort.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UYAR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TBK 342 · 344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Kapanış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DASK poliçesi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ENGELLE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Kapanış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Güncel takyidat sorgusu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UYAR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Kapanış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Müşteriyi tanıma (MASAK)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ENGELLE/UYAR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Emlak · 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Mevzuat parametreleri — koda gömülü değil, sürümlü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işlem, o gün geçerli parametre seti sürümünü (2026.09) kaydeder; oran değişince eski işlemler bozulmaz</a:t>
            </a:r>
            <a:endParaRPr lang="en-US" sz="15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9494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926080"/>
                <a:gridCol w="14630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0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0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07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Satış hizmet bedeli tavanı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taraftan %2 + KDV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Teyit edilmeli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Kiralama hizmet bedeli tavanı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aylık kira + KDV (taraflar toplamı)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Teyit edilmeli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Hizmet bedeli KDV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Tapu harcı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Alıcı ‰20, satıcı ‰20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Döner sermaye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Ofis güncel tutarı girer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Teyit gerekli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Güvence bedeli (depozito)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çok 3 aylık kira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TBK 342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Konut kira artışı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Önceki yılın 12 aylık TÜFE ortalaması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TBK 344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Yetki sözleşmesi uyarıları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/ 15 / 7 gün kala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Ürün politikası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MASAK kimlik tespiti eşiği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Ofis güncel tutarı girer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Teyit gerekli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600200"/>
            <a:ext cx="3867912" cy="4389120"/>
          </a:xfrm>
          <a:prstGeom prst="roundRect">
            <a:avLst>
              <a:gd name="adj" fmla="val 2837"/>
            </a:avLst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46720" y="1828800"/>
            <a:ext cx="640080" cy="6400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3141" y="1995221"/>
            <a:ext cx="307238" cy="3072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046720" y="26060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Hukuk onayı olmadan canlıya çıkmayın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8046720" y="333756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Oranlar, döner sermaye tutarı, MASAK eşiği ve 11 sözleşme şablonu bir avukat tarafından güncel Resmî Gazete'ye göre teyit edilmelidir. Avukata sorulacak soruların listesi: docs/sablonlar/README.md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Emlak · 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Güvenlik ve KVKK — veri sizin, kontrol sizde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353312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2161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Ofisler arası tam ayrım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14904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kayıt bir ofise ait; veritabanı kuralları (RLS) başka ofisin verisini göstermez.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172200" y="1234440"/>
            <a:ext cx="457200" cy="457200"/>
          </a:xfrm>
          <a:prstGeom prst="ellipse">
            <a:avLst/>
          </a:prstGeom>
          <a:solidFill>
            <a:srgbClr val="1F5A99"/>
          </a:solidFill>
          <a:ln w="12700">
            <a:solidFill>
              <a:srgbClr val="1F5A9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1353312"/>
            <a:ext cx="219456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766560" y="12161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bazlı görünürlük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766560" y="14904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Danışman kendi kayıtlarını görür; malik iletişimi yalnızca portföy sahibine ve yöneticilere.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58775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43000" y="24505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Şifresiz giriş, şifreli anahtarlar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1143000" y="27249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E-posta bağlantısı/kodu ile giriş; ücretli servis anahtarları Supabase Vault'ta.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172200" y="2468880"/>
            <a:ext cx="457200" cy="457200"/>
          </a:xfrm>
          <a:prstGeom prst="ellipse">
            <a:avLst/>
          </a:prstGeom>
          <a:solidFill>
            <a:srgbClr val="1F5A99"/>
          </a:solidFill>
          <a:ln w="12700">
            <a:solidFill>
              <a:srgbClr val="1F5A99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2587752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766560" y="24505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Değiştirilemez denetim kaydı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6766560" y="27249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Uyum kararları ve gerekçeler silinemez, güncellenemez.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3822192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143000" y="36850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Toplu dışa aktarma yalnız broker'da</a:t>
            </a:r>
            <a:endParaRPr lang="en-US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1143000" y="39593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Ayrılan danışman müşteri listesini topluca indiremez; broker JSON yedek alır.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6172200" y="3703320"/>
            <a:ext cx="457200" cy="457200"/>
          </a:xfrm>
          <a:prstGeom prst="ellipse">
            <a:avLst/>
          </a:prstGeom>
          <a:solidFill>
            <a:srgbClr val="1F5A99"/>
          </a:solidFill>
          <a:ln w="12700">
            <a:solidFill>
              <a:srgbClr val="1F5A99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3822192"/>
            <a:ext cx="219456" cy="219456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766560" y="36850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Yurt dışı aktarım</a:t>
            </a:r>
            <a:endParaRPr lang="en-US" sz="1400" dirty="0"/>
          </a:p>
        </p:txBody>
      </p:sp>
      <p:sp>
        <p:nvSpPr>
          <p:cNvPr id="26" name="Text 18"/>
          <p:cNvSpPr txBox="1"/>
          <p:nvPr/>
        </p:nvSpPr>
        <p:spPr>
          <a:xfrm>
            <a:off x="6766560" y="39593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Ücretsiz katman AB/global sunucularda; aydınlatma metnine eklenmeli, KVKK md. 9 bildirimi.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548640" y="4937760"/>
            <a:ext cx="457200" cy="45720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" y="5056632"/>
            <a:ext cx="219456" cy="219456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1143000" y="49194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VERBİS ve saklama</a:t>
            </a:r>
            <a:endParaRPr lang="en-US" sz="1400" dirty="0"/>
          </a:p>
        </p:txBody>
      </p:sp>
      <p:sp>
        <p:nvSpPr>
          <p:cNvPr id="30" name="Text 21"/>
          <p:cNvSpPr txBox="1"/>
          <p:nvPr/>
        </p:nvSpPr>
        <p:spPr>
          <a:xfrm>
            <a:off x="1143000" y="519379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VERBİS yükümlülüğünü kontrol edin; belgeler 10 yıl saklanır (süre teyit edilmeli).</a:t>
            </a:r>
            <a:endParaRPr lang="en-US" sz="1150" dirty="0"/>
          </a:p>
        </p:txBody>
      </p:sp>
      <p:sp>
        <p:nvSpPr>
          <p:cNvPr id="31" name="Shape 22"/>
          <p:cNvSpPr/>
          <p:nvPr/>
        </p:nvSpPr>
        <p:spPr>
          <a:xfrm>
            <a:off x="6172200" y="4937760"/>
            <a:ext cx="457200" cy="457200"/>
          </a:xfrm>
          <a:prstGeom prst="ellipse">
            <a:avLst/>
          </a:prstGeom>
          <a:solidFill>
            <a:srgbClr val="1F5A99"/>
          </a:solidFill>
          <a:ln w="12700">
            <a:solidFill>
              <a:srgbClr val="1F5A99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1072" y="5056632"/>
            <a:ext cx="219456" cy="219456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6766560" y="49194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Yedek</a:t>
            </a:r>
            <a:endParaRPr lang="en-US" sz="1400" dirty="0"/>
          </a:p>
        </p:txBody>
      </p:sp>
      <p:sp>
        <p:nvSpPr>
          <p:cNvPr id="34" name="Text 24"/>
          <p:cNvSpPr txBox="1"/>
          <p:nvPr/>
        </p:nvSpPr>
        <p:spPr>
          <a:xfrm>
            <a:off x="6766560" y="519379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Haftalık "Tüm ofis verisini indir"; kritik kullanımda Supabase Pro (günlük yedek).</a:t>
            </a:r>
            <a:endParaRPr lang="en-US" sz="1150" dirty="0"/>
          </a:p>
        </p:txBody>
      </p:sp>
      <p:sp>
        <p:nvSpPr>
          <p:cNvPr id="35" name="Text 25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Emlak · 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paketleri — danışman başına aylık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gün ücretsiz deneme · kart bilgisi istenmez · fiyatlar pilot sonrası belirlenecek</a:t>
            </a:r>
            <a:endParaRPr lang="en-US" sz="15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5605272"/>
                <a:gridCol w="1828800"/>
                <a:gridCol w="1828800"/>
                <a:gridCol w="18288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0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0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Profesyonel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0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07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Portföy, CRM, Eşleştirme, Takvim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Yer Gösterme Belgesi, Yetki Sözleşmesi, Uyum Motoru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Komisyon ve maliyet hesaplayıcıları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FSBO Radar, değerleme, mal sahibi raporu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İşlem hattı, teklif, komisyon paylaşımı, ofis raporları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Pazarlama stüdyosu, çok kanallı yayın (XML)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Yapay zekâ (ilan metni, sesli not, asistan)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Kendi anahtarı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Dâhil (kota)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 / WhatsApp API / e-imza / e-fatura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Kendi anahtarı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Kendi anahtarı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Dâhil (kota)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Müşteri portalı, kira yönetimi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Ücretli servisler kapalıyken uygulama ücretsiz karşılıklarıyla çalışır: wa.me bağlantısı, telefonun SMS uygulaması, bağlantı + kodla imza onayı, taslak PDF fatura.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Emlak · 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Canlıya geçiş kontrol listesi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40680" cy="822960"/>
          </a:xfrm>
          <a:prstGeom prst="roundRect">
            <a:avLst>
              <a:gd name="adj" fmla="val 1333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35608"/>
            <a:ext cx="512064" cy="5120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657" y="1568745"/>
            <a:ext cx="245791" cy="2457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389888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projesi açıldı, 7 migration sırayla çalıştı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172200" y="1280160"/>
            <a:ext cx="5440680" cy="822960"/>
          </a:xfrm>
          <a:prstGeom prst="roundRect">
            <a:avLst>
              <a:gd name="adj" fmla="val 1333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55080" y="1435608"/>
            <a:ext cx="512064" cy="5120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8217" y="1568745"/>
            <a:ext cx="245791" cy="24579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040880" y="1389888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E-posta şablonları {{ .Token }} ile güncellendi, Site URL/Redirect ayarlandı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2258568"/>
            <a:ext cx="5440680" cy="822960"/>
          </a:xfrm>
          <a:prstGeom prst="roundRect">
            <a:avLst>
              <a:gd name="adj" fmla="val 1333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414016"/>
            <a:ext cx="512064" cy="5120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657" y="2547153"/>
            <a:ext cx="245791" cy="24579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2368296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Vercel'de Root Directory = app, iki ortam değişkeni girildi, deploy edildi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172200" y="2258568"/>
            <a:ext cx="5440680" cy="822960"/>
          </a:xfrm>
          <a:prstGeom prst="roundRect">
            <a:avLst>
              <a:gd name="adj" fmla="val 1333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355080" y="2414016"/>
            <a:ext cx="512064" cy="5120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8217" y="2547153"/>
            <a:ext cx="245791" cy="245791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040880" y="2368296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giriş yapıldı, ofis ve yetki belgesi bilgileri girildi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548640" y="3236976"/>
            <a:ext cx="5440680" cy="822960"/>
          </a:xfrm>
          <a:prstGeom prst="roundRect">
            <a:avLst>
              <a:gd name="adj" fmla="val 1333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31520" y="3392424"/>
            <a:ext cx="512064" cy="5120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657" y="3525561"/>
            <a:ext cx="245791" cy="245791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17320" y="3346704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Ekip davet edildi, roller atandı, telefonlara ana ekran kısayolu eklendi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6172200" y="3236976"/>
            <a:ext cx="5440680" cy="822960"/>
          </a:xfrm>
          <a:prstGeom prst="roundRect">
            <a:avLst>
              <a:gd name="adj" fmla="val 1333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355080" y="3392424"/>
            <a:ext cx="512064" cy="5120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8217" y="3525561"/>
            <a:ext cx="245791" cy="245791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040880" y="3346704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portföy/müşteri listesi Excel/CSV'den aktarıldı</a:t>
            </a:r>
            <a:endParaRPr lang="en-US" sz="1250" dirty="0"/>
          </a:p>
        </p:txBody>
      </p:sp>
      <p:sp>
        <p:nvSpPr>
          <p:cNvPr id="27" name="Shape 19"/>
          <p:cNvSpPr/>
          <p:nvPr/>
        </p:nvSpPr>
        <p:spPr>
          <a:xfrm>
            <a:off x="548640" y="4215384"/>
            <a:ext cx="5440680" cy="822960"/>
          </a:xfrm>
          <a:prstGeom prst="roundRect">
            <a:avLst>
              <a:gd name="adj" fmla="val 1333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731520" y="4370832"/>
            <a:ext cx="512064" cy="5120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657" y="4503969"/>
            <a:ext cx="245791" cy="245791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417320" y="4325112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Sözleşme şablonları ve oranlar avukata onaylatıldı</a:t>
            </a:r>
            <a:endParaRPr lang="en-US" sz="1250" dirty="0"/>
          </a:p>
        </p:txBody>
      </p:sp>
      <p:sp>
        <p:nvSpPr>
          <p:cNvPr id="31" name="Shape 22"/>
          <p:cNvSpPr/>
          <p:nvPr/>
        </p:nvSpPr>
        <p:spPr>
          <a:xfrm>
            <a:off x="6172200" y="4215384"/>
            <a:ext cx="5440680" cy="822960"/>
          </a:xfrm>
          <a:prstGeom prst="roundRect">
            <a:avLst>
              <a:gd name="adj" fmla="val 1333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6355080" y="4370832"/>
            <a:ext cx="512064" cy="5120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8217" y="4503969"/>
            <a:ext cx="245791" cy="245791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7040880" y="4325112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Döner sermaye ve MASAK eşiği güncel tutarlarla girildi</a:t>
            </a:r>
            <a:endParaRPr lang="en-US" sz="1250" dirty="0"/>
          </a:p>
        </p:txBody>
      </p:sp>
      <p:sp>
        <p:nvSpPr>
          <p:cNvPr id="35" name="Shape 25"/>
          <p:cNvSpPr/>
          <p:nvPr/>
        </p:nvSpPr>
        <p:spPr>
          <a:xfrm>
            <a:off x="548640" y="5193792"/>
            <a:ext cx="5440680" cy="822960"/>
          </a:xfrm>
          <a:prstGeom prst="roundRect">
            <a:avLst>
              <a:gd name="adj" fmla="val 1333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36" name="Shape 26"/>
          <p:cNvSpPr/>
          <p:nvPr/>
        </p:nvSpPr>
        <p:spPr>
          <a:xfrm>
            <a:off x="731520" y="5349240"/>
            <a:ext cx="512064" cy="5120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4657" y="5482377"/>
            <a:ext cx="245791" cy="245791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1417320" y="5303520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KVKK aydınlatma metnine yurt dışı aktarım eklendi, VERBİS kontrol edildi</a:t>
            </a:r>
            <a:endParaRPr lang="en-US" sz="1250" dirty="0"/>
          </a:p>
        </p:txBody>
      </p:sp>
      <p:sp>
        <p:nvSpPr>
          <p:cNvPr id="39" name="Shape 28"/>
          <p:cNvSpPr/>
          <p:nvPr/>
        </p:nvSpPr>
        <p:spPr>
          <a:xfrm>
            <a:off x="6172200" y="5193792"/>
            <a:ext cx="5440680" cy="822960"/>
          </a:xfrm>
          <a:prstGeom prst="roundRect">
            <a:avLst>
              <a:gd name="adj" fmla="val 1333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40" name="Shape 29"/>
          <p:cNvSpPr/>
          <p:nvPr/>
        </p:nvSpPr>
        <p:spPr>
          <a:xfrm>
            <a:off x="6355080" y="5349240"/>
            <a:ext cx="512064" cy="5120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8217" y="5482377"/>
            <a:ext cx="245791" cy="245791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7040880" y="5303520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Haftalık JSON yedek alışkanlığı başlatıldı</a:t>
            </a:r>
            <a:endParaRPr lang="en-US" sz="1250" dirty="0"/>
          </a:p>
        </p:txBody>
      </p:sp>
      <p:sp>
        <p:nvSpPr>
          <p:cNvPr id="43" name="Text 31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Emlak · 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Sırada ne var? — yol haritası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45920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6642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Şimdi (v1)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modül canlıya hazır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Uyum Motoru, uzaktan imza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Ücretsiz altyapı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mobil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137160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1645920"/>
            <a:ext cx="457200" cy="457200"/>
          </a:xfrm>
          <a:prstGeom prst="ellipse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66360" y="16642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Yakında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37744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entegrasyonları (XML/API)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Pazarlama stüdyosu, Reels video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ilan metni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iyzico / PayTR abonelik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46720" y="137160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21040" y="1645920"/>
            <a:ext cx="457200" cy="457200"/>
          </a:xfrm>
          <a:prstGeom prst="ellipse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15400" y="16642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37744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portalı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 ve mülk yönetimi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Ofisler arası MLS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iOS / Android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937760"/>
            <a:ext cx="11094415" cy="1188720"/>
          </a:xfrm>
          <a:prstGeom prst="roundRect">
            <a:avLst>
              <a:gd name="adj" fmla="val 923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5074920"/>
            <a:ext cx="104543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A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Önerilerinize açığız: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ofis kullanımında gelen her geri bildirim yol haritasına işlenir. Yeni özellikler mevcut veriyi bozmadan, otomatik testlerden geçerek yayına alınır.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Emlak · 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1005840" cy="1005840"/>
          </a:xfrm>
          <a:prstGeom prst="ellipse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158" y="1358798"/>
            <a:ext cx="482803" cy="482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37744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Portföy sizin.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İşin geri kalanı DC Emlak'ta.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38912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4A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Kurulum rehberi: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docs/KURULUM.md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4A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Tasarım belgesi: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docs/TASARIM.md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4A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Sözleşme şablonları: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docs/sablonlar/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4A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kodu: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467344" y="603504"/>
            <a:ext cx="2587752" cy="5515004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1" descr="/tmp/claude-0/-home-user-DC-Emlak-Remax/29f9cb25-31a4-5a92-ac94-707b7b1e9f84/scratchpad/deck/shots/m-portfo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640080"/>
            <a:ext cx="2514600" cy="54418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DC Emlak — Kurulumdan Kullanıma</dc:title>
  <dc:subject>PptxGenJS Presentation</dc:subject>
  <dc:creator>DC Emlak</dc:creator>
  <cp:lastModifiedBy>DC Emlak</cp:lastModifiedBy>
  <cp:revision>1</cp:revision>
  <dcterms:created xsi:type="dcterms:W3CDTF">2026-09-25T10:24:56Z</dcterms:created>
  <dcterms:modified xsi:type="dcterms:W3CDTF">2026-09-25T10:24:56Z</dcterms:modified>
</cp:coreProperties>
</file>